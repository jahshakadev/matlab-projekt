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GESAMT-ZIEL: 8 Minuten, sehr wenige Folien – der Fokus liegt auf der LIVE-Demo von Code und Plots.</a:t>
            </a:r>
          </a:p>
          <a:p/>
          <a:p>
            <a:r>
              <a:t>(ca. 0:00–0:30) Begrüßung. „In unserem Projekt untersuchen wir, wie sich verschiedene FFT-Fensterfunktionen auf die Analyse der Herzfrequenzvariabilität auswirken. Wir zeigen den Code und die Ergebnisse gleich live – die Folien halten wir bewusst kurz.“</a:t>
            </a:r>
          </a:p>
          <a:p/>
          <a:p>
            <a:r>
              <a:t>HINWEIS: Namen und Studiengang oben noch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0:30–1:45) Motivation in einem Satz pro Punkt – nicht vorlesen, frei erzählen.</a:t>
            </a:r>
          </a:p>
          <a:p/>
          <a:p>
            <a:r>
              <a:t>• HRV = Herzfrequenzvariabilität; die Schwankung ist gesund und verrät etwas über das vegetative Nervensystem.</a:t>
            </a:r>
          </a:p>
          <a:p>
            <a:r>
              <a:t>• FFT = zerlegt das Signal in Frequenzen (kurz: wie ein Prisma / Akkord in Einzeltöne).</a:t>
            </a:r>
          </a:p>
          <a:p>
            <a:r>
              <a:t>• Leakage kurz anteasern – Details zeigen wir gleich live im Spektrum.</a:t>
            </a:r>
          </a:p>
          <a:p>
            <a:r>
              <a:t>• Die Leitfrage ist der rote Faden der 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1:45–3:15) DIE zentrale Erklärfolie – hier ruhig etwas mehr Zeit.</a:t>
            </a:r>
          </a:p>
          <a:p/>
          <a:p>
            <a:r>
              <a:t>Kette einmal durchgehen: EKG rein → filtern → R-Zacken finden → Abstände (RR) berechnen → gleichmäßig abtasten (FFT braucht gleiche Abstände) → FFT mit jedem Fenster → Leistung in den Bändern VLF/LF/HF + Wasserfall.</a:t>
            </a:r>
          </a:p>
          <a:p/>
          <a:p>
            <a:r>
              <a:t>Betonen: Der rote Block (FFT × 6 Fenster) ist das eigentliche Experiment – alles davor ist gleich, nur das Fenster wird variiert.</a:t>
            </a:r>
          </a:p>
          <a:p>
            <a:r>
              <a:t>Überleitung: „Was eine Fensterfunktion überhaupt ist, dazu ein Bild.“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3:15–4:15) Nur das Prinzip – die echten Kurven zeigen wir gleich live (Fenster im Zeit-/Frequenzbereich).</a:t>
            </a:r>
          </a:p>
          <a:p/>
          <a:p>
            <a:r>
              <a:t>• Hauptkeule = der „echte“ Peak; schmal = zwei nahe Frequenzen bleiben trennbar.</a:t>
            </a:r>
          </a:p>
          <a:p>
            <a:r>
              <a:t>• Nebenkeulen = unerwünschtes Auslaufen = Leakage; niedrig = sauber.</a:t>
            </a:r>
          </a:p>
          <a:p>
            <a:r>
              <a:t>• Naturgesetz: schmaler bedeutet höhere Nebenkeulen – immer ein Kompromiss.</a:t>
            </a:r>
          </a:p>
          <a:p>
            <a:r>
              <a:t>• Rechteck = „kein Fenster“ (Negativbeispiel), Flat-Top = extrem sauber, aber sehr breit.</a:t>
            </a:r>
          </a:p>
          <a:p/>
          <a:p>
            <a:r>
              <a:t>Überleitung: „Genug Theorie – schauen wir es uns direkt in MATLAB an.“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4:15–6:45) HERZSTÜCK – ca. 2,5 Min. Ruhig und gezielt klicken, nicht hetzen.</a:t>
            </a:r>
          </a:p>
          <a:p/>
          <a:p>
            <a:r>
              <a:t>Roter Faden fuers Publikum:</a:t>
            </a:r>
          </a:p>
          <a:p>
            <a:r>
              <a:t>1) Kurz die modulare Struktur (eine Funktion je Pipeline-Schritt).</a:t>
            </a:r>
          </a:p>
          <a:p>
            <a:r>
              <a:t>2) Start – während es läuft: Konsolenausgabe kommentieren (fs, Dauer, R-Zacken, Artefakte).</a:t>
            </a:r>
          </a:p>
          <a:p>
            <a:r>
              <a:t>3) Vorverarbeitung: Baseline weg, Signal sauber; R-Zacken sitzen genau auf den Spitzen.</a:t>
            </a:r>
          </a:p>
          <a:p>
            <a:r>
              <a:t>4) Tachogramm: echte HRV-Dynamik.</a:t>
            </a:r>
          </a:p>
          <a:p>
            <a:r>
              <a:t>5) Fensterbilder: Rechteck breite/hohe Nebenkeulen, Flat-Top sehr niedrig aber breit.</a:t>
            </a:r>
          </a:p>
          <a:p>
            <a:r>
              <a:t>6) WICHTIGSTE Folie live: dB-Spektrum – Rechteck (blau) liegt oben (Leakage-Boden), Flat-Top (hellblau) unten (sauber).</a:t>
            </a:r>
          </a:p>
          <a:p>
            <a:r>
              <a:t>7) Wasserfälle vergleichen – einheitliche Skala betonen.</a:t>
            </a:r>
          </a:p>
          <a:p>
            <a:r>
              <a:t>8) Tabelle: auf HF und LF/HF zeigen (Überleitung zur nächsten Folie).</a:t>
            </a:r>
          </a:p>
          <a:p/>
          <a:p>
            <a:r>
              <a:t>FALLBACK: Falls MATLAB zickt – all_figures.pdf offen halten und daraus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6:45–7:30) Die Kernaussage in einem Satz.</a:t>
            </a:r>
          </a:p>
          <a:p/>
          <a:p>
            <a:r>
              <a:t>• Das HRV-Signal hat starke langsame und nur schwache schnelle Anteile.</a:t>
            </a:r>
          </a:p>
          <a:p>
            <a:r>
              <a:t>• Das Rechteck lässt die starke langsame Energie ins HF-Band lecken → HF wird ~4× zu groß.</a:t>
            </a:r>
          </a:p>
          <a:p>
            <a:r>
              <a:t>• Damit kippt auch LF/HF – und das ist eine Zahl, die man medizinisch interpretiert.</a:t>
            </a:r>
          </a:p>
          <a:p>
            <a:r>
              <a:t>• Botschaft: Die Fensterwahl ist keine Kosmetik, sie ändert das Ergebnis.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7:30–7:50) Klare Empfehlung, kurz halten.</a:t>
            </a:r>
          </a:p>
          <a:p/>
          <a:p>
            <a:r>
              <a:t>Antwort auf die Leitfrage von Folie 2: Hann. Kurz begründen (Kompromiss), die anderen nur in einem Halbsatz einordnen. Dann zur Dank-Folie.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(ca. 7:50–8:00) Bedanken, in die Fragerunde übergeben.</a:t>
            </a:r>
          </a:p>
          <a:p/>
          <a:p>
            <a:r>
              <a:t>Backup fuer Fragen: Datensatz ist ~40 min (Anforderung ≥1 h beachten); Segmentlänge 5 min, 50 % Überlappung (Welch-Mittelung senkt die Varianz); Bandgrenzen nach Task Force 1996.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965960"/>
            <a:ext cx="1280160" cy="10058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A2332"/>
                </a:solidFill>
                <a:latin typeface="Arial"/>
              </a:rPr>
              <a:t>FFT-Fensterfunktionen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D62828"/>
                </a:solidFill>
                <a:latin typeface="Arial"/>
              </a:rPr>
              <a:t>in der HRV-Analyse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C7A89"/>
                </a:solidFill>
                <a:latin typeface="Arial"/>
              </a:rPr>
              <a:t>Wie die Wahl der Fensterfunktion die Herzfrequenz­variabilität verändert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332"/>
                </a:solidFill>
                <a:latin typeface="Arial"/>
              </a:rPr>
              <a:t>Jannik Oeschger  ·  [Teammitglied]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C7A89"/>
                </a:solidFill>
                <a:latin typeface="Arial"/>
              </a:rPr>
              <a:t>DHBW  ·  MATLAB-Projekt „Thema 2“  ·  Sommersemester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00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1323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96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300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4358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416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1732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1732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373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2024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5740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3055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2199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0428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56032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6090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6148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3464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3464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1546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7472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54787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3931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2160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6419088"/>
            <a:ext cx="18287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77639" y="6369344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7822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7880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196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720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634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5488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9204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6519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05663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3892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208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39496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9554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9612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66928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66928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9893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7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7220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30936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38251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7395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55624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62940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81228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1286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1344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08660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08660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406640" y="6387998"/>
            <a:ext cx="91439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98079" y="6387998"/>
            <a:ext cx="91441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89520" y="6419088"/>
            <a:ext cx="13715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726679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799831" y="6108192"/>
            <a:ext cx="91441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89127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7356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04672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229600" y="6369344"/>
            <a:ext cx="100583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30183" y="6369344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3076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50392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0392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82396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154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0684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4400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21715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30859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39088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46404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64692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74750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84808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92124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92124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24128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33272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42416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56132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63447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725912" y="6108192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808208" y="6419088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881360" y="6419088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064240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164824" y="6369344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265408" y="6419088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338560" y="6419088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338560" y="6419088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165860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750040" y="6387998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841480" y="6419088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1978640" y="6419088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2051792" y="6108192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Worum geht 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0" i="0">
                <a:solidFill>
                  <a:srgbClr val="1A2332"/>
                </a:solidFill>
                <a:latin typeface="Arial"/>
              </a:rPr>
              <a:t>Das Herz schlägt nie exakt gleichmäßig – in den kleinen Schwankungen der Schlagabstände stecken Rhythmen (Atmung, Blutdruck­regelung).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0" i="0">
                <a:solidFill>
                  <a:srgbClr val="1A2332"/>
                </a:solidFill>
                <a:latin typeface="Arial"/>
              </a:rPr>
              <a:t>Die FFT macht diese Rhythmen als Frequenzen sichtbar – aber ein endlicher Signalausschnitt erzeugt „Spectral Leakage“, das die Werte verfälscht.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100" b="0" i="0">
                <a:solidFill>
                  <a:srgbClr val="1A2332"/>
                </a:solidFill>
                <a:latin typeface="Arial"/>
              </a:rPr>
              <a:t>Fensterfunktionen dämpfen dieses Leakage.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62828"/>
                </a:solidFill>
                <a:latin typeface="Arial"/>
              </a:rPr>
              <a:t>→  Unsere Frage: Welches Fenster ist der beste Kompromiss?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Die Verarbeitungskette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C7A89"/>
                </a:solidFill>
                <a:latin typeface="Arial"/>
              </a:rPr>
              <a:t>modular umgesetzt in hrv_fft_analyse.m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1  EKG laden
(EDF-Datei)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2  Vorverarbeiten
(DC, Baseline, 50 Hz, Rauschen)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9327" y="23317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3  R-Zacken +
RR-Intervalle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9327" y="41605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4  Interpolation
(gleichmäßig, 4 Hz)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4160520"/>
            <a:ext cx="3291840" cy="1143000"/>
          </a:xfrm>
          <a:prstGeom prst="roundRect">
            <a:avLst/>
          </a:prstGeom>
          <a:solidFill>
            <a:srgbClr val="D62828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  FFT × 6 Fenster
(rect, hann, …, flattop)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60520"/>
            <a:ext cx="3291840" cy="1143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332"/>
                </a:solidFill>
                <a:latin typeface="Arial"/>
              </a:rPr>
              <a:t>6  HRV-Bänder +
Wasserfall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50207" y="2756915"/>
            <a:ext cx="41148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836408" y="2756915"/>
            <a:ext cx="41148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838944" y="3520439"/>
            <a:ext cx="292608" cy="411480"/>
          </a:xfrm>
          <a:prstGeom prst="down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7836408" y="4585716"/>
            <a:ext cx="411480" cy="292608"/>
          </a:xfrm>
          <a:prstGeom prst="lef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3950207" y="4585716"/>
            <a:ext cx="411480" cy="292608"/>
          </a:xfrm>
          <a:prstGeom prst="lef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C7A89"/>
                </a:solidFill>
                <a:latin typeface="Arial"/>
              </a:rPr>
              <a:t>Kern der Untersuchung: derselbe Schritt 5 wird mit sechs verschiedenen Fensterfunktionen durchlaufen und verglichen.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Fensterfunktion = ein Kompromiss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493776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332"/>
                </a:solidFill>
                <a:latin typeface="Arial"/>
              </a:rPr>
              <a:t>Schmale Hauptkeule
→ gute Frequenzauflösung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2148840"/>
            <a:ext cx="4937760" cy="15544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2332"/>
                </a:solidFill>
                <a:latin typeface="Arial"/>
              </a:rPr>
              <a:t>Niedrige Nebenkeulen
→ wenig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777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62828"/>
                </a:solidFill>
                <a:latin typeface="Arial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62828"/>
                </a:solidFill>
                <a:latin typeface="Arial"/>
              </a:rPr>
              <a:t>Beides gleichzeitig geht nicht – jedes Fenster wählt einen anderen Punkt auf dieser Waage.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6C7A89"/>
                </a:solidFill>
                <a:latin typeface="Arial"/>
              </a:rPr>
              <a:t>Untersucht: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A2332"/>
                </a:solidFill>
                <a:latin typeface="Arial"/>
              </a:rPr>
              <a:t>Rechteck   ·   Hann   ·   Hamming   ·   Blackman   ·   Kaiser   ·   Flat-Top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868680"/>
            <a:ext cx="1280160" cy="10058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LIVE-DEMO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2CC"/>
                </a:solidFill>
                <a:latin typeface="Arial"/>
              </a:rPr>
              <a:t>MATLAB: Code-Struktur &amp; Ergebnisse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4241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Code-Struktur zeigen – modulare Funktionen in hrv_fft_analyse.m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Skript starten (F5)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EKG roh vs. gefiltert  +  erkannte R-Zacken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Tachogramm (RR-Intervalle über die Zeit)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Fenster im Zeit- &amp; Frequenzbereich (Haupt-/Nebenkeulen)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Überlagerte Spektren (dB)  →  Leakage direkt sichtbar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Wasserfälle: Rechteck (zackig) vs. Hann / Flat-Top (glatt)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•  Vergleichstabelle im Command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Was wir sehen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A2332"/>
                </a:solidFill>
                <a:latin typeface="Arial"/>
              </a:rPr>
              <a:t>Leakage bläht das schwache HF-Band auf – dieselbe Messung, nur ein anderes Fenster: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329184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332"/>
                </a:solidFill>
                <a:latin typeface="Arial"/>
              </a:rPr>
              <a:t>Rechteck
HF ≈ 31 ms²
LF/HF = 3,4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43400" y="3520440"/>
            <a:ext cx="502920" cy="292608"/>
          </a:xfrm>
          <a:prstGeom prst="rightArrow">
            <a:avLst/>
          </a:prstGeom>
          <a:solidFill>
            <a:srgbClr val="6C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971800"/>
            <a:ext cx="329184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A2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332"/>
                </a:solidFill>
                <a:latin typeface="Arial"/>
              </a:rPr>
              <a:t>Flat-Top
HF ≈ 8 ms²
LF/HF = 5,5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971800"/>
            <a:ext cx="2743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62828"/>
                </a:solidFill>
                <a:latin typeface="Arial"/>
              </a:rPr>
              <a:t>≈ 4×
Unterschied!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D62828"/>
                </a:solidFill>
                <a:latin typeface="Arial"/>
              </a:rPr>
              <a:t>Falsches Fenster = falscher Kennwert. Ein leaky Fenster kann sogar das klinisch genutzte LF/HF-Verhältnis verzerren.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332"/>
                </a:solidFill>
                <a:latin typeface="Arial"/>
              </a:rPr>
              <a:t>Fazit – welches Fenster?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005840" cy="8229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62828"/>
                </a:solidFill>
                <a:latin typeface="Arial"/>
              </a:rPr>
              <a:t>Hann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Arial"/>
              </a:rPr>
              <a:t>bester Allround-Kompromiss für die HRV: ordentliche Auflösung, wenig Leakage, stabile Bandwerte.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Arial"/>
              </a:rPr>
              <a:t>Kaiser (β≈8)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Arial"/>
              </a:rPr>
              <a:t>wenn man den Kompromiss selbst feinjustieren möchte.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Arial"/>
              </a:rPr>
              <a:t>Rechteck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Arial"/>
              </a:rPr>
              <a:t>nur als Negativbeispiel – zeigt, wie schlimm Leakage ohne Fenster ist.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Arial"/>
              </a:rPr>
              <a:t>Flat-Top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2332"/>
                </a:solidFill>
                <a:latin typeface="Arial"/>
              </a:rPr>
              <a:t>nur, wenn es rein auf die exakte Amplitude eines Peaks ankommt (bei HRV selten).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Vielen Dank!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62828"/>
                </a:solidFill>
                <a:latin typeface="Arial"/>
              </a:rPr>
              <a:t>Fragen?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200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1323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696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300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4358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416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1732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2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73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5740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3055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2199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428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7744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6032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6148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464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546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461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3756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7472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54787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931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72160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94760" y="6035040"/>
            <a:ext cx="18287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77639" y="5985296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7822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7880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5196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5196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5720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634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75488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96519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05663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13892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1208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9496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49554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9612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66928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66928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9893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0807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17220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30936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38251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7395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55624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2940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81228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1286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1344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08660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08660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06640" y="6003950"/>
            <a:ext cx="91439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498079" y="6003950"/>
            <a:ext cx="91441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89520" y="6035040"/>
            <a:ext cx="137159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726679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799831" y="5724144"/>
            <a:ext cx="91441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89127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97356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4672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29600" y="5985296"/>
            <a:ext cx="100583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30183" y="5985296"/>
            <a:ext cx="100585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3076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0392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50392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82396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9154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00684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14400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21715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30859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39088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46404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64692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74750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84808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92124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92124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24128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33272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42416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56132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63447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25912" y="5724144"/>
            <a:ext cx="82296" cy="379293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08208" y="6035040"/>
            <a:ext cx="73152" cy="68397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881360" y="6035040"/>
            <a:ext cx="18288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064240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164824" y="5985296"/>
            <a:ext cx="100584" cy="49744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265408" y="6035040"/>
            <a:ext cx="73152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338560" y="6035040"/>
            <a:ext cx="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338560" y="6035040"/>
            <a:ext cx="32004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165860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750040" y="6003950"/>
            <a:ext cx="91440" cy="3109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1841480" y="6035040"/>
            <a:ext cx="137160" cy="0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978640" y="6035040"/>
            <a:ext cx="73152" cy="43525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2051792" y="5724144"/>
            <a:ext cx="91440" cy="354421"/>
          </a:xfrm>
          <a:prstGeom prst="line">
            <a:avLst/>
          </a:prstGeom>
          <a:ln w="16510">
            <a:solidFill>
              <a:srgbClr val="D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