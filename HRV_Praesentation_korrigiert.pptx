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2"/>
    <p:restoredTop sz="86585"/>
  </p:normalViewPr>
  <p:slideViewPr>
    <p:cSldViewPr snapToGrid="0" snapToObjects="1">
      <p:cViewPr varScale="1">
        <p:scale>
          <a:sx n="137" d="100"/>
          <a:sy n="137" d="100"/>
        </p:scale>
        <p:origin x="10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54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GESAMT-ZIEL: 8 </a:t>
            </a:r>
            <a:r>
              <a:rPr dirty="0" err="1"/>
              <a:t>Minuten</a:t>
            </a:r>
            <a:r>
              <a:rPr dirty="0"/>
              <a:t>,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wenige</a:t>
            </a:r>
            <a:r>
              <a:rPr dirty="0"/>
              <a:t> </a:t>
            </a:r>
            <a:r>
              <a:rPr dirty="0" err="1"/>
              <a:t>Folien</a:t>
            </a:r>
            <a:r>
              <a:rPr dirty="0"/>
              <a:t> – der </a:t>
            </a:r>
            <a:r>
              <a:rPr dirty="0" err="1"/>
              <a:t>Fokus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auf der LIVE-Demo von Code und Plots.</a:t>
            </a:r>
          </a:p>
          <a:p>
            <a:endParaRPr dirty="0"/>
          </a:p>
          <a:p>
            <a:r>
              <a:rPr dirty="0"/>
              <a:t>(ca. 0:00–0:30) </a:t>
            </a:r>
            <a:r>
              <a:rPr dirty="0" err="1"/>
              <a:t>Begrüßung</a:t>
            </a:r>
            <a:r>
              <a:rPr dirty="0"/>
              <a:t>. „In </a:t>
            </a:r>
            <a:r>
              <a:rPr dirty="0" err="1"/>
              <a:t>unserem</a:t>
            </a:r>
            <a:r>
              <a:rPr dirty="0"/>
              <a:t> Projekt </a:t>
            </a:r>
            <a:r>
              <a:rPr dirty="0" err="1"/>
              <a:t>untersuchen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verschiedene</a:t>
            </a:r>
            <a:r>
              <a:rPr dirty="0"/>
              <a:t> FFT-</a:t>
            </a:r>
            <a:r>
              <a:rPr dirty="0" err="1"/>
              <a:t>Fensterfunktionen</a:t>
            </a:r>
            <a:r>
              <a:rPr dirty="0"/>
              <a:t> auf die </a:t>
            </a:r>
            <a:r>
              <a:rPr dirty="0" err="1"/>
              <a:t>Analyse</a:t>
            </a:r>
            <a:r>
              <a:rPr dirty="0"/>
              <a:t> der </a:t>
            </a:r>
            <a:r>
              <a:rPr dirty="0" err="1"/>
              <a:t>Herzfrequenzvariabilität</a:t>
            </a:r>
            <a:r>
              <a:rPr dirty="0"/>
              <a:t> </a:t>
            </a:r>
            <a:r>
              <a:rPr dirty="0" err="1"/>
              <a:t>auswirken</a:t>
            </a:r>
            <a:r>
              <a:rPr dirty="0"/>
              <a:t>. Wir </a:t>
            </a:r>
            <a:r>
              <a:rPr dirty="0" err="1"/>
              <a:t>zeigen</a:t>
            </a:r>
            <a:r>
              <a:rPr dirty="0"/>
              <a:t> den Code und die </a:t>
            </a:r>
            <a:r>
              <a:rPr dirty="0" err="1"/>
              <a:t>Ergebnisse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live – die </a:t>
            </a:r>
            <a:r>
              <a:rPr dirty="0" err="1"/>
              <a:t>Folien</a:t>
            </a:r>
            <a:r>
              <a:rPr dirty="0"/>
              <a:t> </a:t>
            </a:r>
            <a:r>
              <a:rPr dirty="0" err="1"/>
              <a:t>halten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bewusst</a:t>
            </a:r>
            <a:r>
              <a:rPr dirty="0"/>
              <a:t> </a:t>
            </a:r>
            <a:r>
              <a:rPr dirty="0" err="1"/>
              <a:t>kurz</a:t>
            </a:r>
            <a:r>
              <a:rPr dirty="0"/>
              <a:t>.“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(ca. 0:30–1:45) Motivation in </a:t>
            </a:r>
            <a:r>
              <a:rPr dirty="0" err="1"/>
              <a:t>einem</a:t>
            </a:r>
            <a:r>
              <a:rPr dirty="0"/>
              <a:t> Satz pro </a:t>
            </a:r>
            <a:r>
              <a:rPr dirty="0" err="1"/>
              <a:t>Punkt</a:t>
            </a:r>
            <a:r>
              <a:rPr dirty="0"/>
              <a:t> – nicht </a:t>
            </a:r>
            <a:r>
              <a:rPr dirty="0" err="1"/>
              <a:t>vorlesen</a:t>
            </a:r>
            <a:r>
              <a:rPr dirty="0"/>
              <a:t>, </a:t>
            </a:r>
            <a:r>
              <a:rPr dirty="0" err="1"/>
              <a:t>frei</a:t>
            </a:r>
            <a:r>
              <a:rPr dirty="0"/>
              <a:t> </a:t>
            </a:r>
            <a:r>
              <a:rPr dirty="0" err="1"/>
              <a:t>erzählen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• HRV = </a:t>
            </a:r>
            <a:r>
              <a:rPr dirty="0" err="1"/>
              <a:t>Herzfrequenzvariabilität</a:t>
            </a:r>
            <a:r>
              <a:rPr dirty="0"/>
              <a:t>; die </a:t>
            </a:r>
            <a:r>
              <a:rPr dirty="0" err="1"/>
              <a:t>Schwankung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gesund</a:t>
            </a:r>
            <a:r>
              <a:rPr dirty="0"/>
              <a:t> und </a:t>
            </a:r>
            <a:r>
              <a:rPr dirty="0" err="1"/>
              <a:t>verrät</a:t>
            </a:r>
            <a:r>
              <a:rPr dirty="0"/>
              <a:t> </a:t>
            </a:r>
            <a:r>
              <a:rPr dirty="0" err="1"/>
              <a:t>etwas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das vegetative </a:t>
            </a:r>
            <a:r>
              <a:rPr dirty="0" err="1"/>
              <a:t>Nervensystem</a:t>
            </a:r>
            <a:r>
              <a:rPr dirty="0"/>
              <a:t>.</a:t>
            </a:r>
          </a:p>
          <a:p>
            <a:r>
              <a:rPr dirty="0"/>
              <a:t>• FFT = </a:t>
            </a:r>
            <a:r>
              <a:rPr dirty="0" err="1"/>
              <a:t>zerlegt</a:t>
            </a:r>
            <a:r>
              <a:rPr dirty="0"/>
              <a:t> das Signal in </a:t>
            </a:r>
            <a:r>
              <a:rPr dirty="0" err="1"/>
              <a:t>Frequenzen</a:t>
            </a:r>
            <a:r>
              <a:rPr dirty="0"/>
              <a:t> (</a:t>
            </a:r>
            <a:r>
              <a:rPr dirty="0" err="1"/>
              <a:t>kurz</a:t>
            </a:r>
            <a:r>
              <a:rPr dirty="0"/>
              <a:t>: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Prisma / </a:t>
            </a:r>
            <a:r>
              <a:rPr dirty="0" err="1"/>
              <a:t>Akkord</a:t>
            </a:r>
            <a:r>
              <a:rPr dirty="0"/>
              <a:t> in </a:t>
            </a:r>
            <a:r>
              <a:rPr dirty="0" err="1"/>
              <a:t>Einzeltöne</a:t>
            </a:r>
            <a:r>
              <a:rPr dirty="0"/>
              <a:t>).</a:t>
            </a:r>
          </a:p>
          <a:p>
            <a:r>
              <a:rPr dirty="0"/>
              <a:t>• Leakage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anteasern</a:t>
            </a:r>
            <a:r>
              <a:rPr dirty="0"/>
              <a:t> – Details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live </a:t>
            </a:r>
            <a:r>
              <a:rPr dirty="0" err="1"/>
              <a:t>im</a:t>
            </a:r>
            <a:r>
              <a:rPr dirty="0"/>
              <a:t> Spektrum.</a:t>
            </a:r>
          </a:p>
          <a:p>
            <a:r>
              <a:rPr dirty="0"/>
              <a:t>• Die </a:t>
            </a:r>
            <a:r>
              <a:rPr dirty="0" err="1"/>
              <a:t>Leitfrage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der rote Faden der </a:t>
            </a:r>
            <a:r>
              <a:rPr dirty="0" err="1"/>
              <a:t>Präsentation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(ca. 1:45–3:15) DIE zentrale Erklärfolie – hier ruhig etwas mehr Zeit.</a:t>
            </a:r>
          </a:p>
          <a:p>
            <a:endParaRPr/>
          </a:p>
          <a:p>
            <a:r>
              <a:t>Kette einmal durchgehen: EKG rein → filtern → R-Zacken finden → Abstände (RR) berechnen → gleichmäßig abtasten (FFT braucht gleiche Abstände) → FFT mit jedem Fenster → Leistung in den Bändern VLF/LF/HF + Wasserfall.</a:t>
            </a:r>
          </a:p>
          <a:p>
            <a:endParaRPr/>
          </a:p>
          <a:p>
            <a:r>
              <a:t>Betonen: Der rote Block (FFT × 6 Fenster) ist das eigentliche Experiment – alles davor ist gleich, nur das Fenster wird variiert.</a:t>
            </a:r>
          </a:p>
          <a:p>
            <a:r>
              <a:t>Überleitung: „Was eine Fensterfunktion überhaupt ist, dazu ein Bild.“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(ca. 3:15–4:15) Nur das </a:t>
            </a:r>
            <a:r>
              <a:rPr dirty="0" err="1"/>
              <a:t>Prinzip</a:t>
            </a:r>
            <a:r>
              <a:rPr dirty="0"/>
              <a:t> – die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Kurven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live (Fenster </a:t>
            </a:r>
            <a:r>
              <a:rPr dirty="0" err="1"/>
              <a:t>im</a:t>
            </a:r>
            <a:r>
              <a:rPr dirty="0"/>
              <a:t> Zeit-/</a:t>
            </a:r>
            <a:r>
              <a:rPr dirty="0" err="1"/>
              <a:t>Frequenzbereich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Hauptkeule</a:t>
            </a:r>
            <a:r>
              <a:rPr dirty="0"/>
              <a:t> = der „</a:t>
            </a:r>
            <a:r>
              <a:rPr dirty="0" err="1"/>
              <a:t>echte</a:t>
            </a:r>
            <a:r>
              <a:rPr dirty="0"/>
              <a:t>“ Peak; </a:t>
            </a:r>
            <a:r>
              <a:rPr dirty="0" err="1"/>
              <a:t>schmal</a:t>
            </a:r>
            <a:r>
              <a:rPr dirty="0"/>
              <a:t> =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nahe</a:t>
            </a:r>
            <a:r>
              <a:rPr dirty="0"/>
              <a:t> </a:t>
            </a:r>
            <a:r>
              <a:rPr dirty="0" err="1"/>
              <a:t>Frequenzen</a:t>
            </a:r>
            <a:r>
              <a:rPr dirty="0"/>
              <a:t>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trennbar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Nebenkeulen</a:t>
            </a:r>
            <a:r>
              <a:rPr dirty="0"/>
              <a:t> = </a:t>
            </a:r>
            <a:r>
              <a:rPr dirty="0" err="1"/>
              <a:t>unerwünschtes</a:t>
            </a:r>
            <a:r>
              <a:rPr dirty="0"/>
              <a:t> </a:t>
            </a:r>
            <a:r>
              <a:rPr dirty="0" err="1"/>
              <a:t>Auslaufen</a:t>
            </a:r>
            <a:r>
              <a:rPr dirty="0"/>
              <a:t> = Leakage; </a:t>
            </a:r>
            <a:r>
              <a:rPr dirty="0" err="1"/>
              <a:t>niedrig</a:t>
            </a:r>
            <a:r>
              <a:rPr dirty="0"/>
              <a:t> = </a:t>
            </a:r>
            <a:r>
              <a:rPr dirty="0" err="1"/>
              <a:t>sauber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Naturgesetz</a:t>
            </a:r>
            <a:r>
              <a:rPr dirty="0"/>
              <a:t>: </a:t>
            </a:r>
            <a:r>
              <a:rPr dirty="0" err="1"/>
              <a:t>schmaler</a:t>
            </a:r>
            <a:r>
              <a:rPr dirty="0"/>
              <a:t> </a:t>
            </a:r>
            <a:r>
              <a:rPr dirty="0" err="1"/>
              <a:t>bedeutet</a:t>
            </a:r>
            <a:r>
              <a:rPr dirty="0"/>
              <a:t> </a:t>
            </a:r>
            <a:r>
              <a:rPr dirty="0" err="1"/>
              <a:t>höhere</a:t>
            </a:r>
            <a:r>
              <a:rPr dirty="0"/>
              <a:t> </a:t>
            </a:r>
            <a:r>
              <a:rPr dirty="0" err="1"/>
              <a:t>Nebenkeulen</a:t>
            </a:r>
            <a:r>
              <a:rPr dirty="0"/>
              <a:t> – immer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Kompromiss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Rechteck</a:t>
            </a:r>
            <a:r>
              <a:rPr dirty="0"/>
              <a:t> = „</a:t>
            </a:r>
            <a:r>
              <a:rPr dirty="0" err="1"/>
              <a:t>kein</a:t>
            </a:r>
            <a:r>
              <a:rPr dirty="0"/>
              <a:t> Fenster“ (</a:t>
            </a:r>
            <a:r>
              <a:rPr dirty="0" err="1"/>
              <a:t>Negativbeispiel</a:t>
            </a:r>
            <a:r>
              <a:rPr dirty="0"/>
              <a:t>), Flat-Top = </a:t>
            </a:r>
            <a:r>
              <a:rPr dirty="0" err="1"/>
              <a:t>extrem</a:t>
            </a:r>
            <a:r>
              <a:rPr dirty="0"/>
              <a:t> </a:t>
            </a:r>
            <a:r>
              <a:rPr dirty="0" err="1"/>
              <a:t>sauber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breit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Überleitung</a:t>
            </a:r>
            <a:r>
              <a:rPr dirty="0"/>
              <a:t>: „</a:t>
            </a:r>
            <a:r>
              <a:rPr dirty="0" err="1"/>
              <a:t>Genug</a:t>
            </a:r>
            <a:r>
              <a:rPr dirty="0"/>
              <a:t> </a:t>
            </a:r>
            <a:r>
              <a:rPr dirty="0" err="1"/>
              <a:t>Theorie</a:t>
            </a:r>
            <a:r>
              <a:rPr dirty="0"/>
              <a:t> – </a:t>
            </a:r>
            <a:r>
              <a:rPr dirty="0" err="1"/>
              <a:t>schauen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es </a:t>
            </a:r>
            <a:r>
              <a:rPr dirty="0" err="1"/>
              <a:t>uns</a:t>
            </a:r>
            <a:r>
              <a:rPr dirty="0"/>
              <a:t> </a:t>
            </a:r>
            <a:r>
              <a:rPr dirty="0" err="1"/>
              <a:t>direkt</a:t>
            </a:r>
            <a:r>
              <a:rPr dirty="0"/>
              <a:t> in MATLAB an.“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(ca. 4:15–6:45) HERZSTÜCK – ca. 2,5 Min. Ruhig und </a:t>
            </a:r>
            <a:r>
              <a:rPr dirty="0" err="1"/>
              <a:t>gezielt</a:t>
            </a:r>
            <a:r>
              <a:rPr dirty="0"/>
              <a:t> </a:t>
            </a:r>
            <a:r>
              <a:rPr dirty="0" err="1"/>
              <a:t>klicken</a:t>
            </a:r>
            <a:r>
              <a:rPr dirty="0"/>
              <a:t>, nicht </a:t>
            </a:r>
            <a:r>
              <a:rPr dirty="0" err="1"/>
              <a:t>hetzen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Roter Faden </a:t>
            </a:r>
            <a:r>
              <a:rPr dirty="0" err="1"/>
              <a:t>fuers</a:t>
            </a:r>
            <a:r>
              <a:rPr dirty="0"/>
              <a:t> </a:t>
            </a:r>
            <a:r>
              <a:rPr dirty="0" err="1"/>
              <a:t>Publikum</a:t>
            </a:r>
            <a:r>
              <a:rPr dirty="0"/>
              <a:t>:</a:t>
            </a:r>
          </a:p>
          <a:p>
            <a:r>
              <a:rPr dirty="0"/>
              <a:t>1) Kurz die </a:t>
            </a:r>
            <a:r>
              <a:rPr dirty="0" err="1"/>
              <a:t>modulare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 (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 je Pipeline-Schritt).</a:t>
            </a:r>
          </a:p>
          <a:p>
            <a:r>
              <a:rPr dirty="0"/>
              <a:t>2) Start – </a:t>
            </a:r>
            <a:r>
              <a:rPr dirty="0" err="1"/>
              <a:t>während</a:t>
            </a:r>
            <a:r>
              <a:rPr dirty="0"/>
              <a:t> es </a:t>
            </a:r>
            <a:r>
              <a:rPr dirty="0" err="1"/>
              <a:t>läuft</a:t>
            </a:r>
            <a:r>
              <a:rPr dirty="0"/>
              <a:t>: </a:t>
            </a:r>
            <a:r>
              <a:rPr dirty="0" err="1"/>
              <a:t>Konsolenausgabe</a:t>
            </a:r>
            <a:r>
              <a:rPr dirty="0"/>
              <a:t> </a:t>
            </a:r>
            <a:r>
              <a:rPr dirty="0" err="1"/>
              <a:t>kommentieren</a:t>
            </a:r>
            <a:r>
              <a:rPr dirty="0"/>
              <a:t> (fs, Dauer, R-</a:t>
            </a:r>
            <a:r>
              <a:rPr dirty="0" err="1"/>
              <a:t>Zacken</a:t>
            </a:r>
            <a:r>
              <a:rPr dirty="0"/>
              <a:t>, </a:t>
            </a:r>
            <a:r>
              <a:rPr dirty="0" err="1"/>
              <a:t>Artefakte</a:t>
            </a:r>
            <a:r>
              <a:rPr dirty="0"/>
              <a:t>).</a:t>
            </a:r>
          </a:p>
          <a:p>
            <a:r>
              <a:rPr dirty="0"/>
              <a:t>3) </a:t>
            </a:r>
            <a:r>
              <a:rPr dirty="0" err="1"/>
              <a:t>Vorverarbeitung</a:t>
            </a:r>
            <a:r>
              <a:rPr dirty="0"/>
              <a:t>: Baseline </a:t>
            </a:r>
            <a:r>
              <a:rPr dirty="0" err="1"/>
              <a:t>weg</a:t>
            </a:r>
            <a:r>
              <a:rPr dirty="0"/>
              <a:t>, Signal </a:t>
            </a:r>
            <a:r>
              <a:rPr dirty="0" err="1"/>
              <a:t>sauber</a:t>
            </a:r>
            <a:r>
              <a:rPr dirty="0"/>
              <a:t>; R-</a:t>
            </a:r>
            <a:r>
              <a:rPr dirty="0" err="1"/>
              <a:t>Zacken</a:t>
            </a:r>
            <a:r>
              <a:rPr dirty="0"/>
              <a:t> </a:t>
            </a:r>
            <a:r>
              <a:rPr dirty="0" err="1"/>
              <a:t>sitzen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auf den </a:t>
            </a:r>
            <a:r>
              <a:rPr dirty="0" err="1"/>
              <a:t>Spitzen</a:t>
            </a:r>
            <a:r>
              <a:rPr dirty="0"/>
              <a:t>.</a:t>
            </a:r>
          </a:p>
          <a:p>
            <a:r>
              <a:rPr dirty="0"/>
              <a:t>4) </a:t>
            </a:r>
            <a:r>
              <a:rPr dirty="0" err="1"/>
              <a:t>Tachogramm</a:t>
            </a:r>
            <a:r>
              <a:rPr dirty="0"/>
              <a:t>: </a:t>
            </a:r>
            <a:r>
              <a:rPr dirty="0" err="1"/>
              <a:t>echte</a:t>
            </a:r>
            <a:r>
              <a:rPr dirty="0"/>
              <a:t> HRV-Dynamik.</a:t>
            </a:r>
          </a:p>
          <a:p>
            <a:r>
              <a:rPr dirty="0"/>
              <a:t>5) </a:t>
            </a:r>
            <a:r>
              <a:rPr dirty="0" err="1"/>
              <a:t>Fensterbilder</a:t>
            </a:r>
            <a:r>
              <a:rPr dirty="0"/>
              <a:t>: </a:t>
            </a:r>
            <a:r>
              <a:rPr dirty="0" err="1"/>
              <a:t>Rechteck</a:t>
            </a:r>
            <a:r>
              <a:rPr dirty="0"/>
              <a:t> </a:t>
            </a:r>
            <a:r>
              <a:rPr dirty="0" err="1"/>
              <a:t>breite</a:t>
            </a:r>
            <a:r>
              <a:rPr dirty="0"/>
              <a:t>/</a:t>
            </a:r>
            <a:r>
              <a:rPr dirty="0" err="1"/>
              <a:t>hohe</a:t>
            </a:r>
            <a:r>
              <a:rPr dirty="0"/>
              <a:t> </a:t>
            </a:r>
            <a:r>
              <a:rPr dirty="0" err="1"/>
              <a:t>Nebenkeulen</a:t>
            </a:r>
            <a:r>
              <a:rPr dirty="0"/>
              <a:t>, Flat-Top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niedrig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breit</a:t>
            </a:r>
            <a:r>
              <a:rPr dirty="0"/>
              <a:t>.</a:t>
            </a:r>
          </a:p>
          <a:p>
            <a:r>
              <a:rPr dirty="0"/>
              <a:t>6) WICHTIGSTE Folie live: dB-Spektrum – </a:t>
            </a:r>
            <a:r>
              <a:rPr dirty="0" err="1"/>
              <a:t>Rechteck</a:t>
            </a:r>
            <a:r>
              <a:rPr dirty="0"/>
              <a:t> (</a:t>
            </a:r>
            <a:r>
              <a:rPr dirty="0" err="1"/>
              <a:t>blau</a:t>
            </a:r>
            <a:r>
              <a:rPr dirty="0"/>
              <a:t>)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oben</a:t>
            </a:r>
            <a:r>
              <a:rPr dirty="0"/>
              <a:t> (Leakage-Boden), Flat-Top (</a:t>
            </a:r>
            <a:r>
              <a:rPr dirty="0" err="1"/>
              <a:t>hellblau</a:t>
            </a:r>
            <a:r>
              <a:rPr dirty="0"/>
              <a:t>) </a:t>
            </a:r>
            <a:r>
              <a:rPr dirty="0" err="1"/>
              <a:t>unten</a:t>
            </a:r>
            <a:r>
              <a:rPr dirty="0"/>
              <a:t> (</a:t>
            </a:r>
            <a:r>
              <a:rPr dirty="0" err="1"/>
              <a:t>sauber</a:t>
            </a:r>
            <a:r>
              <a:rPr dirty="0"/>
              <a:t>).</a:t>
            </a:r>
          </a:p>
          <a:p>
            <a:r>
              <a:rPr dirty="0"/>
              <a:t>7) </a:t>
            </a:r>
            <a:r>
              <a:rPr dirty="0" err="1"/>
              <a:t>Wasserfälle</a:t>
            </a:r>
            <a:r>
              <a:rPr dirty="0"/>
              <a:t> </a:t>
            </a:r>
            <a:r>
              <a:rPr dirty="0" err="1"/>
              <a:t>vergleichen</a:t>
            </a:r>
            <a:r>
              <a:rPr dirty="0"/>
              <a:t> – </a:t>
            </a:r>
            <a:r>
              <a:rPr dirty="0" err="1"/>
              <a:t>einheitliche</a:t>
            </a:r>
            <a:r>
              <a:rPr dirty="0"/>
              <a:t> Skala </a:t>
            </a:r>
            <a:r>
              <a:rPr dirty="0" err="1"/>
              <a:t>betonen</a:t>
            </a:r>
            <a:r>
              <a:rPr dirty="0"/>
              <a:t>.</a:t>
            </a:r>
          </a:p>
          <a:p>
            <a:r>
              <a:rPr dirty="0"/>
              <a:t>8) </a:t>
            </a:r>
            <a:r>
              <a:rPr dirty="0" err="1"/>
              <a:t>Tabelle</a:t>
            </a:r>
            <a:r>
              <a:rPr dirty="0"/>
              <a:t>: auf HF und LF/HF </a:t>
            </a:r>
            <a:r>
              <a:rPr dirty="0" err="1"/>
              <a:t>zeigen</a:t>
            </a:r>
            <a:r>
              <a:rPr dirty="0"/>
              <a:t> (</a:t>
            </a:r>
            <a:r>
              <a:rPr dirty="0" err="1"/>
              <a:t>Überleitung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nächsten</a:t>
            </a:r>
            <a:r>
              <a:rPr dirty="0"/>
              <a:t> Folie).</a:t>
            </a:r>
          </a:p>
          <a:p>
            <a:endParaRPr dirty="0"/>
          </a:p>
          <a:p>
            <a:r>
              <a:rPr dirty="0"/>
              <a:t>FALLBACK: Falls MATLAB </a:t>
            </a:r>
            <a:r>
              <a:rPr dirty="0" err="1"/>
              <a:t>zickt</a:t>
            </a:r>
            <a:r>
              <a:rPr dirty="0"/>
              <a:t> – </a:t>
            </a:r>
            <a:r>
              <a:rPr dirty="0" err="1"/>
              <a:t>all_figures.pdf</a:t>
            </a:r>
            <a:r>
              <a:rPr dirty="0"/>
              <a:t> </a:t>
            </a:r>
            <a:r>
              <a:rPr dirty="0" err="1"/>
              <a:t>offen</a:t>
            </a:r>
            <a:r>
              <a:rPr dirty="0"/>
              <a:t> </a:t>
            </a:r>
            <a:r>
              <a:rPr dirty="0" err="1"/>
              <a:t>halten</a:t>
            </a:r>
            <a:r>
              <a:rPr dirty="0"/>
              <a:t> und </a:t>
            </a:r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(ca. 6:45–7:30) Die Kernaussage in einem Satz.</a:t>
            </a:r>
          </a:p>
          <a:p>
            <a:endParaRPr/>
          </a:p>
          <a:p>
            <a:r>
              <a:t>• Das HRV-Signal hat starke langsame und nur schwache schnelle Anteile.</a:t>
            </a:r>
          </a:p>
          <a:p>
            <a:r>
              <a:t>• Das Rechteck lässt die starke langsame Energie ins HF-Band lecken → HF wird ~4× zu groß.</a:t>
            </a:r>
          </a:p>
          <a:p>
            <a:r>
              <a:t>• Damit kippt auch LF/HF – und das ist eine Zahl, die man medizinisch interpretiert.</a:t>
            </a:r>
          </a:p>
          <a:p>
            <a:r>
              <a:t>• Botschaft: Die Fensterwahl ist keine Kosmetik, sie ändert das Ergebnis.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A5B4-0AC9-F690-41B6-F869520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6FF11-EA9D-9F11-3629-CB4ED37F3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9A8CA-47FC-1B7E-89E4-7CD621311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(ca. 6:45–7:30) Die Kernaussage in einem Satz.</a:t>
            </a:r>
          </a:p>
          <a:p>
            <a:endParaRPr/>
          </a:p>
          <a:p>
            <a:r>
              <a:t>• Das HRV-Signal hat starke langsame und nur schwache schnelle Anteile.</a:t>
            </a:r>
          </a:p>
          <a:p>
            <a:r>
              <a:t>• Das Rechteck lässt die starke langsame Energie ins HF-Band lecken → HF wird ~4× zu groß.</a:t>
            </a:r>
          </a:p>
          <a:p>
            <a:r>
              <a:t>• Damit kippt auch LF/HF – und das ist eine Zahl, die man medizinisch interpretiert.</a:t>
            </a:r>
          </a:p>
          <a:p>
            <a:r>
              <a:t>• Botschaft: Die Fensterwahl ist keine Kosmetik, sie ändert das Ergebnis.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ACF31-6DB6-8317-DE2E-629EDF20A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3645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(ca. 7:30–7:50) Klare </a:t>
            </a:r>
            <a:r>
              <a:rPr dirty="0" err="1"/>
              <a:t>Empfehlung</a:t>
            </a:r>
            <a:r>
              <a:rPr dirty="0"/>
              <a:t>,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halten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Antwort</a:t>
            </a:r>
            <a:r>
              <a:rPr dirty="0"/>
              <a:t> auf die </a:t>
            </a:r>
            <a:r>
              <a:rPr dirty="0" err="1"/>
              <a:t>Leitfrage</a:t>
            </a:r>
            <a:r>
              <a:rPr dirty="0"/>
              <a:t> von Folie 2: Hann. Kurz </a:t>
            </a:r>
            <a:r>
              <a:rPr dirty="0" err="1"/>
              <a:t>begründen</a:t>
            </a:r>
            <a:r>
              <a:rPr dirty="0"/>
              <a:t> (</a:t>
            </a:r>
            <a:r>
              <a:rPr dirty="0" err="1"/>
              <a:t>Kompromiss</a:t>
            </a:r>
            <a:r>
              <a:rPr dirty="0"/>
              <a:t>), die </a:t>
            </a:r>
            <a:r>
              <a:rPr dirty="0" err="1"/>
              <a:t>anderen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in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Halbsatz</a:t>
            </a:r>
            <a:r>
              <a:rPr dirty="0"/>
              <a:t> </a:t>
            </a:r>
            <a:r>
              <a:rPr dirty="0" err="1"/>
              <a:t>einordnen</a:t>
            </a:r>
            <a:r>
              <a:rPr dirty="0"/>
              <a:t>. Dann </a:t>
            </a:r>
            <a:r>
              <a:rPr dirty="0" err="1"/>
              <a:t>zur</a:t>
            </a:r>
            <a:r>
              <a:rPr dirty="0"/>
              <a:t> Dank-Folie.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(ca. 7:50–8:00) </a:t>
            </a:r>
            <a:r>
              <a:rPr dirty="0" err="1"/>
              <a:t>Bedanken</a:t>
            </a:r>
            <a:r>
              <a:rPr dirty="0"/>
              <a:t>, in die </a:t>
            </a:r>
            <a:r>
              <a:rPr dirty="0" err="1"/>
              <a:t>Fragerunde</a:t>
            </a:r>
            <a:r>
              <a:rPr dirty="0"/>
              <a:t> </a:t>
            </a:r>
            <a:r>
              <a:rPr dirty="0" err="1"/>
              <a:t>übergeben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Backup </a:t>
            </a:r>
            <a:r>
              <a:rPr dirty="0" err="1"/>
              <a:t>fuer</a:t>
            </a:r>
            <a:r>
              <a:rPr dirty="0"/>
              <a:t> Fragen: </a:t>
            </a:r>
            <a:r>
              <a:rPr dirty="0" err="1"/>
              <a:t>Datensatz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~40 min (</a:t>
            </a:r>
            <a:r>
              <a:rPr dirty="0" err="1"/>
              <a:t>Anforderung</a:t>
            </a:r>
            <a:r>
              <a:rPr dirty="0"/>
              <a:t> ≥1 h </a:t>
            </a:r>
            <a:r>
              <a:rPr dirty="0" err="1"/>
              <a:t>beachten</a:t>
            </a:r>
            <a:r>
              <a:rPr dirty="0"/>
              <a:t>); </a:t>
            </a:r>
            <a:r>
              <a:rPr dirty="0" err="1"/>
              <a:t>Segmentlänge</a:t>
            </a:r>
            <a:r>
              <a:rPr dirty="0"/>
              <a:t> 5 min, 50 % </a:t>
            </a:r>
            <a:r>
              <a:rPr dirty="0" err="1"/>
              <a:t>Überlappung</a:t>
            </a:r>
            <a:r>
              <a:rPr dirty="0"/>
              <a:t> (Welch-Mittelung </a:t>
            </a:r>
            <a:r>
              <a:rPr dirty="0" err="1"/>
              <a:t>senkt</a:t>
            </a:r>
            <a:r>
              <a:rPr dirty="0"/>
              <a:t> die </a:t>
            </a:r>
            <a:r>
              <a:rPr dirty="0" err="1"/>
              <a:t>Varianz</a:t>
            </a:r>
            <a:r>
              <a:rPr dirty="0"/>
              <a:t>); </a:t>
            </a:r>
            <a:r>
              <a:rPr dirty="0" err="1"/>
              <a:t>Bandgrenzen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Task Force 1996.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965960"/>
            <a:ext cx="1280160" cy="10058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A2332"/>
                </a:solidFill>
                <a:latin typeface="Arial"/>
              </a:rPr>
              <a:t>FFT-Fensterfunktionen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D62828"/>
                </a:solidFill>
                <a:latin typeface="Arial"/>
              </a:rPr>
              <a:t>in der HRV-Analyse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C7A89"/>
                </a:solidFill>
                <a:latin typeface="Arial"/>
              </a:rPr>
              <a:t>Wie die Wahl der Fensterfunktion die Herzfrequenz­variabilität verändert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47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1A2332"/>
                </a:solidFill>
                <a:latin typeface="Arial"/>
              </a:rPr>
              <a:t>Jannik Oeschger  ·  </a:t>
            </a:r>
            <a:r>
              <a:rPr lang="de-DE" sz="1600" b="1" dirty="0">
                <a:solidFill>
                  <a:srgbClr val="1A2332"/>
                </a:solidFill>
                <a:latin typeface="Arial"/>
              </a:rPr>
              <a:t>Arvid Haase</a:t>
            </a:r>
            <a:endParaRPr sz="1600" b="1" i="0" dirty="0">
              <a:solidFill>
                <a:srgbClr val="1A2332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6C7A89"/>
                </a:solidFill>
                <a:latin typeface="Arial"/>
              </a:rPr>
              <a:t>DHBW  ·  MATLAB   ·  </a:t>
            </a:r>
            <a:r>
              <a:rPr sz="1300" b="0" i="0" dirty="0" err="1">
                <a:solidFill>
                  <a:srgbClr val="6C7A89"/>
                </a:solidFill>
                <a:latin typeface="Arial"/>
              </a:rPr>
              <a:t>Sommersemester</a:t>
            </a:r>
            <a:r>
              <a:rPr sz="1300" b="0" i="0" dirty="0">
                <a:solidFill>
                  <a:srgbClr val="6C7A89"/>
                </a:solidFill>
                <a:latin typeface="Arial"/>
              </a:rPr>
              <a:t>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00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1323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96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300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4358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416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1732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1732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373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2024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5740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3055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2199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0428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56032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6090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6148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3464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3464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1546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7472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54787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3931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2160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6419088"/>
            <a:ext cx="18287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77639" y="6369344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7822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7880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196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634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5488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9204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6519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05663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3892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208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39496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9554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9612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66928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66928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9893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7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7220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0936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38251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7395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55624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62940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81228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1286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1344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08660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08660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406640" y="6387998"/>
            <a:ext cx="91439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98079" y="6387998"/>
            <a:ext cx="91441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89520" y="6419088"/>
            <a:ext cx="13715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726679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799831" y="6108192"/>
            <a:ext cx="91441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89127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7356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04672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229600" y="6369344"/>
            <a:ext cx="100583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30183" y="6369344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3076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50392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0392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8239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154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0684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4400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21715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30859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39088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46404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64692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74750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84808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92124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92124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2412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3327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42416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56132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63447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72591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80820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88136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06424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16482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26540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33856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33856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16586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7500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84148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197864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205179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000" b="1" i="0" noProof="0" dirty="0">
                <a:solidFill>
                  <a:srgbClr val="1A2332"/>
                </a:solidFill>
                <a:latin typeface="Arial"/>
              </a:rPr>
              <a:t>Worum geht 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3231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Das Herz schlägt nie exakt gleichmäßig. </a:t>
            </a:r>
            <a:r>
              <a:rPr lang="de-DE" sz="2100" noProof="0" dirty="0">
                <a:solidFill>
                  <a:srgbClr val="1A2332"/>
                </a:solidFill>
                <a:latin typeface="Arial"/>
              </a:rPr>
              <a:t>I</a:t>
            </a: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n den kleinen Schwankungen der Schlagabstände stecken Rhythmen (Atmung, Blutdruck­regelung).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Die FFT macht diese Rhythmen als Frequenzen sichtbar</a:t>
            </a:r>
            <a:r>
              <a:rPr lang="de-DE" sz="2100" noProof="0" dirty="0">
                <a:solidFill>
                  <a:srgbClr val="1A2332"/>
                </a:solidFill>
                <a:latin typeface="Arial"/>
              </a:rPr>
              <a:t>,</a:t>
            </a: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 aber ein endlicher Signalausschnitt erzeugt „</a:t>
            </a:r>
            <a:r>
              <a:rPr lang="de-DE" sz="2100" b="0" i="0" noProof="0" dirty="0" err="1">
                <a:solidFill>
                  <a:srgbClr val="1A2332"/>
                </a:solidFill>
                <a:latin typeface="Arial"/>
              </a:rPr>
              <a:t>Spectral</a:t>
            </a: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 Leakage“, das die Werte verfälscht.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de-DE" sz="2100" b="0" i="0" noProof="0" dirty="0">
                <a:solidFill>
                  <a:srgbClr val="1A2332"/>
                </a:solidFill>
                <a:latin typeface="Arial"/>
              </a:rPr>
              <a:t>Fensterfunktionen dämpfen dieses Leakage, verbreitern jedoch die Hauptkeule und verschlechtern damit die Frequenzauflösung.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de-DE" sz="2200" b="1" i="0" noProof="0" dirty="0">
              <a:solidFill>
                <a:srgbClr val="D62828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200" b="1" i="0" noProof="0">
                <a:solidFill>
                  <a:srgbClr val="D62828"/>
                </a:solidFill>
                <a:latin typeface="Arial"/>
              </a:rPr>
              <a:t>→  Welches </a:t>
            </a:r>
            <a:r>
              <a:rPr lang="de-DE" sz="2200" b="1" i="0" noProof="0" dirty="0">
                <a:solidFill>
                  <a:srgbClr val="D62828"/>
                </a:solidFill>
                <a:latin typeface="Arial"/>
              </a:rPr>
              <a:t>Fenster ist der beste Kompromiss?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Die Verarbeitungskette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1A2332"/>
                </a:solidFill>
                <a:latin typeface="Arial"/>
              </a:rPr>
              <a:t>1  EKG laden
(EDF-</a:t>
            </a:r>
            <a:r>
              <a:rPr sz="1400" b="1" i="0" dirty="0" err="1">
                <a:solidFill>
                  <a:srgbClr val="1A2332"/>
                </a:solidFill>
                <a:latin typeface="Arial"/>
              </a:rPr>
              <a:t>Datei</a:t>
            </a:r>
            <a:r>
              <a:rPr sz="1400" b="1" i="0" dirty="0">
                <a:solidFill>
                  <a:srgbClr val="1A2332"/>
                </a:solidFill>
                <a:latin typeface="Arial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2  Vorverarbeiten
(DC, Baseline, 50 Hz, Rauschen)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9327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3  R-Zacken +
RR-Intervalle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9327" y="41605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4  Interpolation
(gleichmäßig, 4 Hz)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4160520"/>
            <a:ext cx="3291840" cy="1143000"/>
          </a:xfrm>
          <a:prstGeom prst="roundRect">
            <a:avLst/>
          </a:prstGeom>
          <a:solidFill>
            <a:srgbClr val="D62828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  FFT × 6 Fenster
(rect, hann, …, flattop)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605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1A2332"/>
                </a:solidFill>
                <a:latin typeface="Arial"/>
              </a:rPr>
              <a:t>6  HRV-</a:t>
            </a:r>
            <a:r>
              <a:rPr sz="1400" b="1" i="0" dirty="0" err="1">
                <a:solidFill>
                  <a:srgbClr val="1A2332"/>
                </a:solidFill>
                <a:latin typeface="Arial"/>
              </a:rPr>
              <a:t>Bänder</a:t>
            </a:r>
            <a:r>
              <a:rPr sz="1400" b="1" i="0" dirty="0">
                <a:solidFill>
                  <a:srgbClr val="1A2332"/>
                </a:solidFill>
                <a:latin typeface="Arial"/>
              </a:rPr>
              <a:t> +
</a:t>
            </a:r>
            <a:r>
              <a:rPr sz="1400" b="1" i="0" dirty="0" err="1">
                <a:solidFill>
                  <a:srgbClr val="1A2332"/>
                </a:solidFill>
                <a:latin typeface="Arial"/>
              </a:rPr>
              <a:t>Wasserfall</a:t>
            </a:r>
            <a:endParaRPr sz="1400" b="1" i="0" dirty="0">
              <a:solidFill>
                <a:srgbClr val="1A2332"/>
              </a:solidFill>
              <a:latin typeface="Arial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950207" y="2756915"/>
            <a:ext cx="41148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836408" y="2756915"/>
            <a:ext cx="41148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9838944" y="3520439"/>
            <a:ext cx="292608" cy="411480"/>
          </a:xfrm>
          <a:prstGeom prst="down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eft Arrow 13"/>
          <p:cNvSpPr/>
          <p:nvPr/>
        </p:nvSpPr>
        <p:spPr>
          <a:xfrm>
            <a:off x="7836408" y="4585716"/>
            <a:ext cx="411480" cy="292608"/>
          </a:xfrm>
          <a:prstGeom prst="lef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 Arrow 14"/>
          <p:cNvSpPr/>
          <p:nvPr/>
        </p:nvSpPr>
        <p:spPr>
          <a:xfrm>
            <a:off x="3950207" y="4585716"/>
            <a:ext cx="411480" cy="292608"/>
          </a:xfrm>
          <a:prstGeom prst="lef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Fensterfunktion = ein Kompromiss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493776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332"/>
                </a:solidFill>
                <a:latin typeface="Arial"/>
              </a:rPr>
              <a:t>Schmale Hauptkeule
→ gute Frequenzauflösung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2148840"/>
            <a:ext cx="493776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332"/>
                </a:solidFill>
                <a:latin typeface="Arial"/>
              </a:rPr>
              <a:t>Niedrige Nebenkeulen
→ wenig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62828"/>
                </a:solidFill>
                <a:latin typeface="Arial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607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 dirty="0" err="1">
                <a:solidFill>
                  <a:srgbClr val="D62828"/>
                </a:solidFill>
                <a:latin typeface="Arial"/>
              </a:rPr>
              <a:t>Beides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gleichzeitig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geht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nicht</a:t>
            </a:r>
            <a:r>
              <a:rPr lang="de-DE" sz="2000" b="1" i="0" dirty="0">
                <a:solidFill>
                  <a:srgbClr val="D62828"/>
                </a:solidFill>
                <a:latin typeface="Arial"/>
              </a:rPr>
              <a:t>,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jedes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Fenster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wählt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einen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anderen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Punkt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auf </a:t>
            </a:r>
            <a:r>
              <a:rPr sz="2000" b="1" i="0" dirty="0" err="1">
                <a:solidFill>
                  <a:srgbClr val="D62828"/>
                </a:solidFill>
                <a:latin typeface="Arial"/>
              </a:rPr>
              <a:t>dieser</a:t>
            </a:r>
            <a:r>
              <a:rPr sz="2000" b="1" i="0" dirty="0">
                <a:solidFill>
                  <a:srgbClr val="D62828"/>
                </a:solidFill>
                <a:latin typeface="Arial"/>
              </a:rPr>
              <a:t> Waage.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 err="1">
                <a:solidFill>
                  <a:srgbClr val="6C7A89"/>
                </a:solidFill>
                <a:latin typeface="Arial"/>
              </a:rPr>
              <a:t>Untersucht</a:t>
            </a:r>
            <a:r>
              <a:rPr sz="1600" b="1" i="0" dirty="0">
                <a:solidFill>
                  <a:srgbClr val="6C7A89"/>
                </a:solidFill>
                <a:latin typeface="Arial"/>
              </a:rPr>
              <a:t>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 dirty="0" err="1">
                <a:solidFill>
                  <a:srgbClr val="1A2332"/>
                </a:solidFill>
                <a:latin typeface="Arial"/>
              </a:rPr>
              <a:t>Rechteck</a:t>
            </a:r>
            <a:r>
              <a:rPr sz="2000" b="1" i="0" dirty="0">
                <a:solidFill>
                  <a:srgbClr val="1A2332"/>
                </a:solidFill>
                <a:latin typeface="Arial"/>
              </a:rPr>
              <a:t>   ·   Hann   ·   Hamming   ·   Blackman   ·   Kaiser   ·   Flat-Top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68680"/>
            <a:ext cx="1280160" cy="10058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LIVE-DEMO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2CC"/>
                </a:solidFill>
                <a:latin typeface="Arial"/>
              </a:rPr>
              <a:t>MATLAB: Code-Struktur &amp; Ergebnisse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000" b="1" i="0" dirty="0">
                <a:solidFill>
                  <a:srgbClr val="1A2332"/>
                </a:solidFill>
                <a:latin typeface="Arial"/>
              </a:rPr>
              <a:t>Hauptkeulenunterschied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0C536B-7D84-20F0-EF43-1251F42B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82" y="1519693"/>
            <a:ext cx="5786250" cy="38186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6E73D98-395F-3ABB-E8E2-5172BDAA8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40004"/>
            <a:ext cx="5817360" cy="3798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9D6E-FEB5-CB3A-070E-D4BFE12A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861B2-4F57-5458-8D03-C75FAC7CDA4B}"/>
              </a:ext>
            </a:extLst>
          </p:cNvPr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Was wir sehen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77843-D818-0C08-8187-0F44FDB6F53F}"/>
              </a:ext>
            </a:extLst>
          </p:cNvPr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2EF99-55B3-59DB-565F-B4125AEE5009}"/>
              </a:ext>
            </a:extLst>
          </p:cNvPr>
          <p:cNvSpPr txBox="1"/>
          <p:nvPr/>
        </p:nvSpPr>
        <p:spPr>
          <a:xfrm>
            <a:off x="822960" y="1874519"/>
            <a:ext cx="106070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 dirty="0">
                <a:solidFill>
                  <a:srgbClr val="1A2332"/>
                </a:solidFill>
                <a:latin typeface="Arial"/>
              </a:rPr>
              <a:t>Leakage </a:t>
            </a:r>
            <a:r>
              <a:rPr sz="2000" b="0" i="0" dirty="0" err="1">
                <a:solidFill>
                  <a:srgbClr val="1A2332"/>
                </a:solidFill>
                <a:latin typeface="Arial"/>
              </a:rPr>
              <a:t>bläht</a:t>
            </a:r>
            <a:r>
              <a:rPr sz="2000" b="0" i="0" dirty="0">
                <a:solidFill>
                  <a:srgbClr val="1A2332"/>
                </a:solidFill>
                <a:latin typeface="Arial"/>
              </a:rPr>
              <a:t> das </a:t>
            </a:r>
            <a:r>
              <a:rPr sz="2000" b="0" i="0" dirty="0" err="1">
                <a:solidFill>
                  <a:srgbClr val="1A2332"/>
                </a:solidFill>
                <a:latin typeface="Arial"/>
              </a:rPr>
              <a:t>schwache</a:t>
            </a:r>
            <a:r>
              <a:rPr sz="2000" b="0" i="0" dirty="0">
                <a:solidFill>
                  <a:srgbClr val="1A2332"/>
                </a:solidFill>
                <a:latin typeface="Arial"/>
              </a:rPr>
              <a:t> HF-Band auf.</a:t>
            </a:r>
            <a:r>
              <a:rPr lang="de-DE" sz="2000" b="0" i="0" dirty="0">
                <a:solidFill>
                  <a:srgbClr val="1A2332"/>
                </a:solidFill>
                <a:latin typeface="Arial"/>
              </a:rPr>
              <a:t> Dieselbe Messung, nur ein anderes Fenster:</a:t>
            </a:r>
            <a:endParaRPr sz="2000" b="0" i="0" dirty="0">
              <a:solidFill>
                <a:srgbClr val="1A2332"/>
              </a:solidFill>
              <a:latin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62A21D-96A6-6823-B517-58B16260A024}"/>
              </a:ext>
            </a:extLst>
          </p:cNvPr>
          <p:cNvSpPr/>
          <p:nvPr/>
        </p:nvSpPr>
        <p:spPr>
          <a:xfrm>
            <a:off x="822960" y="2971800"/>
            <a:ext cx="329184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332"/>
                </a:solidFill>
                <a:latin typeface="Arial"/>
              </a:rPr>
              <a:t>Rechteck
HF ≈ 31 ms²
LF/HF = 3,4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D702AC9-1D8D-575F-B877-356B6494A077}"/>
              </a:ext>
            </a:extLst>
          </p:cNvPr>
          <p:cNvSpPr/>
          <p:nvPr/>
        </p:nvSpPr>
        <p:spPr>
          <a:xfrm>
            <a:off x="4343400" y="3520440"/>
            <a:ext cx="50292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7C3F74-87A9-E60C-FAC1-142011FCC5CF}"/>
              </a:ext>
            </a:extLst>
          </p:cNvPr>
          <p:cNvSpPr/>
          <p:nvPr/>
        </p:nvSpPr>
        <p:spPr>
          <a:xfrm>
            <a:off x="5120640" y="2971800"/>
            <a:ext cx="329184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332"/>
                </a:solidFill>
                <a:latin typeface="Arial"/>
              </a:rPr>
              <a:t>Flat-Top
HF ≈ 8 ms²
LF/HF = 5,5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1E758-18C8-2AB2-23FC-29E21BD650FA}"/>
              </a:ext>
            </a:extLst>
          </p:cNvPr>
          <p:cNvSpPr txBox="1"/>
          <p:nvPr/>
        </p:nvSpPr>
        <p:spPr>
          <a:xfrm>
            <a:off x="8686800" y="297180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62828"/>
                </a:solidFill>
                <a:latin typeface="Arial"/>
              </a:rPr>
              <a:t>≈ 4×
Unterschied!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375380-78D7-C9E5-E9DC-A269253F8E68}"/>
              </a:ext>
            </a:extLst>
          </p:cNvPr>
          <p:cNvSpPr txBox="1"/>
          <p:nvPr/>
        </p:nvSpPr>
        <p:spPr>
          <a:xfrm>
            <a:off x="822960" y="48920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D62828"/>
                </a:solidFill>
                <a:latin typeface="Arial"/>
              </a:rPr>
              <a:t>Falsches Fenster = falscher Kennwert. Ein leaky Fenster kann sogar das klinisch genutzte LF/HF-Verhältnis verzerren.</a:t>
            </a:r>
          </a:p>
        </p:txBody>
      </p:sp>
    </p:spTree>
    <p:extLst>
      <p:ext uri="{BB962C8B-B14F-4D97-AF65-F5344CB8AC3E}">
        <p14:creationId xmlns:p14="http://schemas.microsoft.com/office/powerpoint/2010/main" val="347710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Fazit – welches Fenster?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D62828"/>
                </a:solidFill>
                <a:latin typeface="Arial"/>
              </a:rPr>
              <a:t>Hann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 dirty="0">
                <a:solidFill>
                  <a:srgbClr val="1A2332"/>
                </a:solidFill>
                <a:latin typeface="Arial"/>
              </a:rPr>
              <a:t>bester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Allround-Kompromiss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für die HRV: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ordentliche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Auflösung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,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wenig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Leakage, stabile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Bandwerte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1A2332"/>
                </a:solidFill>
                <a:latin typeface="Arial"/>
              </a:rPr>
              <a:t>Kaiser (β≈8)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 dirty="0" err="1">
                <a:solidFill>
                  <a:srgbClr val="1A2332"/>
                </a:solidFill>
                <a:latin typeface="Arial"/>
              </a:rPr>
              <a:t>wenn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man den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Kompromiss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selbst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feinjustieren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möchte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 err="1">
                <a:solidFill>
                  <a:srgbClr val="1A2332"/>
                </a:solidFill>
                <a:latin typeface="Arial"/>
              </a:rPr>
              <a:t>Rechteck</a:t>
            </a:r>
            <a:endParaRPr sz="2400" b="1" i="0" dirty="0">
              <a:solidFill>
                <a:srgbClr val="1A2332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 dirty="0" err="1">
                <a:solidFill>
                  <a:srgbClr val="1A2332"/>
                </a:solidFill>
                <a:latin typeface="Arial"/>
              </a:rPr>
              <a:t>nur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als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Negativbeispiel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–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zeigt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,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wie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schlimm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Leakage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ohne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Fenster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ist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1A2332"/>
                </a:solidFill>
                <a:latin typeface="Arial"/>
              </a:rPr>
              <a:t>Flat-Top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 dirty="0" err="1">
                <a:solidFill>
                  <a:srgbClr val="1A2332"/>
                </a:solidFill>
                <a:latin typeface="Arial"/>
              </a:rPr>
              <a:t>nur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,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wenn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es rein auf die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exakte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Amplitude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eines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Peaks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ankommt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(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bei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 HRV </a:t>
            </a:r>
            <a:r>
              <a:rPr sz="1800" b="0" i="0" dirty="0" err="1">
                <a:solidFill>
                  <a:srgbClr val="1A2332"/>
                </a:solidFill>
                <a:latin typeface="Arial"/>
              </a:rPr>
              <a:t>selten</a:t>
            </a:r>
            <a:r>
              <a:rPr sz="1800" b="0" i="0" dirty="0">
                <a:solidFill>
                  <a:srgbClr val="1A2332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029337"/>
            <a:ext cx="105156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 dirty="0" err="1">
                <a:solidFill>
                  <a:srgbClr val="FFFFFF"/>
                </a:solidFill>
                <a:latin typeface="Arial"/>
              </a:rPr>
              <a:t>Vielen</a:t>
            </a:r>
            <a:r>
              <a:rPr sz="4600" b="1" i="0" dirty="0">
                <a:solidFill>
                  <a:srgbClr val="FFFFFF"/>
                </a:solidFill>
                <a:latin typeface="Arial"/>
              </a:rPr>
              <a:t> Dank!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200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1323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696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300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4358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416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1732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2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73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5740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3055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2199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428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7744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6032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6148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464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546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461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3756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7472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54787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931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72160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94760" y="6035040"/>
            <a:ext cx="18287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77639" y="5985296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7822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7880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5196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5196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5720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634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75488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96519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05663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13892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1208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9496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49554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9612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66928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66928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9893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0807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17220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30936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38251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7395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55624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2940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81228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1286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1344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08660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8660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06640" y="6003950"/>
            <a:ext cx="91439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498079" y="6003950"/>
            <a:ext cx="91441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89520" y="6035040"/>
            <a:ext cx="13715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726679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799831" y="5724144"/>
            <a:ext cx="91441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89127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97356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4672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29600" y="5985296"/>
            <a:ext cx="100583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30183" y="5985296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3076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0392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50392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8239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9154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00684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14400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21715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30859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39088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46404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64692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74750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84808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92124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92124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2412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3327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42416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56132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63447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2591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0820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88136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06424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16482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26540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33856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33856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16586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7500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184148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97864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205179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Microsoft Macintosh PowerPoint</Application>
  <PresentationFormat>Breitbild</PresentationFormat>
  <Paragraphs>98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Jannik Oeschger</cp:lastModifiedBy>
  <cp:revision>8</cp:revision>
  <dcterms:created xsi:type="dcterms:W3CDTF">2013-01-27T09:14:16Z</dcterms:created>
  <dcterms:modified xsi:type="dcterms:W3CDTF">2026-07-13T12:49:24Z</dcterms:modified>
  <cp:category/>
</cp:coreProperties>
</file>