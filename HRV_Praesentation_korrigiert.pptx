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256" r:id="rId2"/>
    <p:sldId id="257" r:id="rId3"/>
    <p:sldId id="260" r:id="rId4"/>
    <p:sldId id="261" r:id="rId5"/>
    <p:sldId id="264" r:id="rId6"/>
    <p:sldId id="262" r:id="rId7"/>
    <p:sldId id="263" r:id="rId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2396"/>
    <p:restoredTop sz="86607"/>
  </p:normalViewPr>
  <p:slideViewPr>
    <p:cSldViewPr snapToGrid="0" snapToObjects="1">
      <p:cViewPr varScale="1">
        <p:scale>
          <a:sx n="136" d="100"/>
          <a:sy n="136" d="100"/>
        </p:scale>
        <p:origin x="1120" y="192"/>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56541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de-DE" sz="1200" kern="1200" dirty="0">
                <a:solidFill>
                  <a:schemeClr val="tx1"/>
                </a:solidFill>
                <a:effectLst/>
                <a:latin typeface="+mn-lt"/>
                <a:ea typeface="+mn-ea"/>
                <a:cs typeface="+mn-cs"/>
              </a:rPr>
              <a:t>Unser Thema war der „Einfluss unterschiedlicher FFT-Fensterfunktionen auf die Herzfrequenzvariabilität-Analyse“. Und wie genau die Wahl der der Fensterfunktion die Kennwerte der Herzfrequenzvariabilität verändern kann.</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de-DE" sz="1200" kern="1200" dirty="0">
                <a:solidFill>
                  <a:schemeClr val="tx1"/>
                </a:solidFill>
                <a:effectLst/>
                <a:latin typeface="+mn-lt"/>
                <a:ea typeface="+mn-ea"/>
                <a:cs typeface="+mn-cs"/>
              </a:rPr>
              <a:t>Also das Herz von einem Mensch schlägt nie genau gleich, diese Schwankung ist aber Gesund und man nennt sie Herzfrequenzvariabilität.  Um diese Rhythmen sichtbar zu machen, zerlegen wir das Signal mithilfe der Fast-Fourier-Transformation in seine Frequenzen. Dabei ist das Problem, dass wir immer nur einen endlichen Ausschnitt betrachten, dass erzeugt dann beim zusammensetzen an den Rändern, sogenannte </a:t>
            </a:r>
            <a:r>
              <a:rPr lang="de-DE" sz="1200" kern="1200" dirty="0" err="1">
                <a:solidFill>
                  <a:schemeClr val="tx1"/>
                </a:solidFill>
                <a:effectLst/>
                <a:latin typeface="+mn-lt"/>
                <a:ea typeface="+mn-ea"/>
                <a:cs typeface="+mn-cs"/>
              </a:rPr>
              <a:t>Spectral</a:t>
            </a:r>
            <a:r>
              <a:rPr lang="de-DE" sz="1200" kern="1200" dirty="0">
                <a:solidFill>
                  <a:schemeClr val="tx1"/>
                </a:solidFill>
                <a:effectLst/>
                <a:latin typeface="+mn-lt"/>
                <a:ea typeface="+mn-ea"/>
                <a:cs typeface="+mn-cs"/>
              </a:rPr>
              <a:t> Leakage, welche die Werte verfälscht. </a:t>
            </a:r>
            <a:br>
              <a:rPr lang="de-DE" sz="1200" kern="1200" dirty="0">
                <a:solidFill>
                  <a:schemeClr val="tx1"/>
                </a:solidFill>
                <a:effectLst/>
                <a:latin typeface="+mn-lt"/>
                <a:ea typeface="+mn-ea"/>
                <a:cs typeface="+mn-cs"/>
              </a:rPr>
            </a:br>
            <a:r>
              <a:rPr lang="de-DE" sz="1200" kern="1200" dirty="0">
                <a:solidFill>
                  <a:schemeClr val="tx1"/>
                </a:solidFill>
                <a:effectLst/>
                <a:latin typeface="+mn-lt"/>
                <a:ea typeface="+mn-ea"/>
                <a:cs typeface="+mn-cs"/>
              </a:rPr>
              <a:t>Dafür gibt es jetzt Fensterfunktionen, die diesen Leck-Effekt dämpfen können, dafür jedoch die Hauptkeule verbeitern und damit ihre Frequenzauflösung verschlechtern. </a:t>
            </a:r>
            <a:br>
              <a:rPr lang="de-DE" sz="1200" kern="1200" dirty="0">
                <a:solidFill>
                  <a:schemeClr val="tx1"/>
                </a:solidFill>
                <a:effectLst/>
                <a:latin typeface="+mn-lt"/>
                <a:ea typeface="+mn-ea"/>
                <a:cs typeface="+mn-cs"/>
              </a:rPr>
            </a:br>
            <a:r>
              <a:rPr lang="de-DE" sz="1200" kern="1200" dirty="0">
                <a:solidFill>
                  <a:schemeClr val="tx1"/>
                </a:solidFill>
                <a:effectLst/>
                <a:latin typeface="+mn-lt"/>
                <a:ea typeface="+mn-ea"/>
                <a:cs typeface="+mn-cs"/>
              </a:rPr>
              <a:t>Unsere Leitfrage, war nun also. Welches Fenster ist der beste Kompromiss?</a:t>
            </a:r>
            <a:r>
              <a:rPr lang="de-DE" dirty="0">
                <a:effectLst/>
              </a:rPr>
              <a:t> </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de-DE" sz="1200" kern="1200" dirty="0">
                <a:solidFill>
                  <a:schemeClr val="tx1"/>
                </a:solidFill>
                <a:effectLst/>
                <a:latin typeface="+mn-lt"/>
                <a:ea typeface="+mn-ea"/>
                <a:cs typeface="+mn-cs"/>
              </a:rPr>
              <a:t>Und jetzt würde ich dann auch schon in den Programmcode wechseln um weiterzumachen.</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(ca. 6:45–7:30) Die Kernaussage in einem Satz.</a:t>
            </a:r>
          </a:p>
          <a:p>
            <a:endParaRPr/>
          </a:p>
          <a:p>
            <a:r>
              <a:t>• Das HRV-Signal hat starke langsame und nur schwache schnelle Anteile.</a:t>
            </a:r>
          </a:p>
          <a:p>
            <a:r>
              <a:t>• Das Rechteck lässt die starke langsame Energie ins HF-Band lecken → HF wird ~4× zu groß.</a:t>
            </a:r>
          </a:p>
          <a:p>
            <a:r>
              <a:t>• Damit kippt auch LF/HF – und das ist eine Zahl, die man medizinisch interpretiert.</a:t>
            </a:r>
          </a:p>
          <a:p>
            <a:r>
              <a:t>• Botschaft: Die Fensterwahl ist keine Kosmetik, sie ändert das Ergebnis.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9DA5B4-0AC9-F690-41B6-F869520B846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886FF11-EA9D-9F11-3629-CB4ED37F37A5}"/>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E3C9A8CA-47FC-1B7E-89E4-7CD6213118BF}"/>
              </a:ext>
            </a:extLst>
          </p:cNvPr>
          <p:cNvSpPr>
            <a:spLocks noGrp="1"/>
          </p:cNvSpPr>
          <p:nvPr>
            <p:ph type="body" sz="quarter" idx="3"/>
          </p:nvPr>
        </p:nvSpPr>
        <p:spPr/>
        <p:txBody>
          <a:bodyPr/>
          <a:lstStyle/>
          <a:p>
            <a:r>
              <a:t>(ca. 6:45–7:30) Die Kernaussage in einem Satz.</a:t>
            </a:r>
          </a:p>
          <a:p>
            <a:endParaRPr/>
          </a:p>
          <a:p>
            <a:r>
              <a:t>• Das HRV-Signal hat starke langsame und nur schwache schnelle Anteile.</a:t>
            </a:r>
          </a:p>
          <a:p>
            <a:r>
              <a:t>• Das Rechteck lässt die starke langsame Energie ins HF-Band lecken → HF wird ~4× zu groß.</a:t>
            </a:r>
          </a:p>
          <a:p>
            <a:r>
              <a:t>• Damit kippt auch LF/HF – und das ist eine Zahl, die man medizinisch interpretiert.</a:t>
            </a:r>
          </a:p>
          <a:p>
            <a:r>
              <a:t>• Botschaft: Die Fensterwahl ist keine Kosmetik, sie ändert das Ergebnis.</a:t>
            </a:r>
          </a:p>
        </p:txBody>
      </p:sp>
      <p:sp>
        <p:nvSpPr>
          <p:cNvPr id="4" name="Slide Number Placeholder 3">
            <a:extLst>
              <a:ext uri="{FF2B5EF4-FFF2-40B4-BE49-F238E27FC236}">
                <a16:creationId xmlns:a16="http://schemas.microsoft.com/office/drawing/2014/main" id="{C9FACF31-6DB6-8317-DE2E-629EDF20AA16}"/>
              </a:ext>
            </a:extLst>
          </p:cNvPr>
          <p:cNvSpPr>
            <a:spLocks noGrp="1"/>
          </p:cNvSpPr>
          <p:nvPr>
            <p:ph type="sldNum" sz="quarter" idx="5"/>
          </p:nvPr>
        </p:nvSpPr>
        <p:spPr/>
      </p:sp>
    </p:spTree>
    <p:extLst>
      <p:ext uri="{BB962C8B-B14F-4D97-AF65-F5344CB8AC3E}">
        <p14:creationId xmlns:p14="http://schemas.microsoft.com/office/powerpoint/2010/main" val="380364523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(ca. 7:30–7:50) Klare </a:t>
            </a:r>
            <a:r>
              <a:rPr dirty="0" err="1"/>
              <a:t>Empfehlung</a:t>
            </a:r>
            <a:r>
              <a:rPr dirty="0"/>
              <a:t>, </a:t>
            </a:r>
            <a:r>
              <a:rPr dirty="0" err="1"/>
              <a:t>kurz</a:t>
            </a:r>
            <a:r>
              <a:rPr dirty="0"/>
              <a:t> </a:t>
            </a:r>
            <a:r>
              <a:rPr dirty="0" err="1"/>
              <a:t>halten</a:t>
            </a:r>
            <a:r>
              <a:rPr dirty="0"/>
              <a:t>.</a:t>
            </a:r>
          </a:p>
          <a:p>
            <a:endParaRPr dirty="0"/>
          </a:p>
          <a:p>
            <a:r>
              <a:rPr dirty="0" err="1"/>
              <a:t>Antwort</a:t>
            </a:r>
            <a:r>
              <a:rPr dirty="0"/>
              <a:t> auf die </a:t>
            </a:r>
            <a:r>
              <a:rPr dirty="0" err="1"/>
              <a:t>Leitfrage</a:t>
            </a:r>
            <a:r>
              <a:rPr dirty="0"/>
              <a:t> von Folie 2: Hann. Kurz </a:t>
            </a:r>
            <a:r>
              <a:rPr dirty="0" err="1"/>
              <a:t>begründen</a:t>
            </a:r>
            <a:r>
              <a:rPr dirty="0"/>
              <a:t> (</a:t>
            </a:r>
            <a:r>
              <a:rPr dirty="0" err="1"/>
              <a:t>Kompromiss</a:t>
            </a:r>
            <a:r>
              <a:rPr dirty="0"/>
              <a:t>), die </a:t>
            </a:r>
            <a:r>
              <a:rPr dirty="0" err="1"/>
              <a:t>anderen</a:t>
            </a:r>
            <a:r>
              <a:rPr dirty="0"/>
              <a:t> </a:t>
            </a:r>
            <a:r>
              <a:rPr dirty="0" err="1"/>
              <a:t>nur</a:t>
            </a:r>
            <a:r>
              <a:rPr dirty="0"/>
              <a:t> in </a:t>
            </a:r>
            <a:r>
              <a:rPr dirty="0" err="1"/>
              <a:t>einem</a:t>
            </a:r>
            <a:r>
              <a:rPr dirty="0"/>
              <a:t> </a:t>
            </a:r>
            <a:r>
              <a:rPr dirty="0" err="1"/>
              <a:t>Halbsatz</a:t>
            </a:r>
            <a:r>
              <a:rPr dirty="0"/>
              <a:t> </a:t>
            </a:r>
            <a:r>
              <a:rPr dirty="0" err="1"/>
              <a:t>einordnen</a:t>
            </a:r>
            <a:r>
              <a:rPr dirty="0"/>
              <a:t>. Dann </a:t>
            </a:r>
            <a:r>
              <a:rPr dirty="0" err="1"/>
              <a:t>zur</a:t>
            </a:r>
            <a:r>
              <a:rPr dirty="0"/>
              <a:t> Dank-Folie.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(ca. 7:50–8:00) </a:t>
            </a:r>
            <a:r>
              <a:rPr dirty="0" err="1"/>
              <a:t>Bedanken</a:t>
            </a:r>
            <a:r>
              <a:rPr dirty="0"/>
              <a:t>, in die </a:t>
            </a:r>
            <a:r>
              <a:rPr dirty="0" err="1"/>
              <a:t>Fragerunde</a:t>
            </a:r>
            <a:r>
              <a:rPr dirty="0"/>
              <a:t> </a:t>
            </a:r>
            <a:r>
              <a:rPr dirty="0" err="1"/>
              <a:t>übergeben</a:t>
            </a:r>
            <a:r>
              <a:rPr dirty="0"/>
              <a:t>.</a:t>
            </a:r>
          </a:p>
          <a:p>
            <a:endParaRPr dirty="0"/>
          </a:p>
          <a:p>
            <a:r>
              <a:rPr dirty="0"/>
              <a:t>Backup </a:t>
            </a:r>
            <a:r>
              <a:rPr dirty="0" err="1"/>
              <a:t>fuer</a:t>
            </a:r>
            <a:r>
              <a:rPr dirty="0"/>
              <a:t> Fragen: </a:t>
            </a:r>
            <a:r>
              <a:rPr dirty="0" err="1"/>
              <a:t>Datensatz</a:t>
            </a:r>
            <a:r>
              <a:rPr dirty="0"/>
              <a:t> </a:t>
            </a:r>
            <a:r>
              <a:rPr dirty="0" err="1"/>
              <a:t>ist</a:t>
            </a:r>
            <a:r>
              <a:rPr dirty="0"/>
              <a:t> ~40 min (</a:t>
            </a:r>
            <a:r>
              <a:rPr dirty="0" err="1"/>
              <a:t>Anforderung</a:t>
            </a:r>
            <a:r>
              <a:rPr dirty="0"/>
              <a:t> ≥1 h </a:t>
            </a:r>
            <a:r>
              <a:rPr dirty="0" err="1"/>
              <a:t>beachten</a:t>
            </a:r>
            <a:r>
              <a:rPr dirty="0"/>
              <a:t>); </a:t>
            </a:r>
            <a:r>
              <a:rPr dirty="0" err="1"/>
              <a:t>Segmentlänge</a:t>
            </a:r>
            <a:r>
              <a:rPr dirty="0"/>
              <a:t> 5 min, 50 % </a:t>
            </a:r>
            <a:r>
              <a:rPr dirty="0" err="1"/>
              <a:t>Überlappung</a:t>
            </a:r>
            <a:r>
              <a:rPr dirty="0"/>
              <a:t> (Welch-Mittelung </a:t>
            </a:r>
            <a:r>
              <a:rPr dirty="0" err="1"/>
              <a:t>senkt</a:t>
            </a:r>
            <a:r>
              <a:rPr dirty="0"/>
              <a:t> die </a:t>
            </a:r>
            <a:r>
              <a:rPr dirty="0" err="1"/>
              <a:t>Varianz</a:t>
            </a:r>
            <a:r>
              <a:rPr dirty="0"/>
              <a:t>); </a:t>
            </a:r>
            <a:r>
              <a:rPr dirty="0" err="1"/>
              <a:t>Bandgrenzen</a:t>
            </a:r>
            <a:r>
              <a:rPr dirty="0"/>
              <a:t> </a:t>
            </a:r>
            <a:r>
              <a:rPr dirty="0" err="1"/>
              <a:t>nach</a:t>
            </a:r>
            <a:r>
              <a:rPr dirty="0"/>
              <a:t> Task Force 1996.</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7/13/26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7/13/26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7/13/26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7/13/26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7/13/26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7/13/26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7/13/26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‹Nr.›</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822960" y="1965960"/>
            <a:ext cx="1280160" cy="100584"/>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148840"/>
            <a:ext cx="10515600" cy="2194560"/>
          </a:xfrm>
          <a:prstGeom prst="rect">
            <a:avLst/>
          </a:prstGeom>
          <a:noFill/>
        </p:spPr>
        <p:txBody>
          <a:bodyPr wrap="square" lIns="0" tIns="0" rIns="0" bIns="0" anchor="t">
            <a:spAutoFit/>
          </a:bodyPr>
          <a:lstStyle/>
          <a:p>
            <a:pPr algn="l">
              <a:spcBef>
                <a:spcPts val="0"/>
              </a:spcBef>
              <a:spcAft>
                <a:spcPts val="0"/>
              </a:spcAft>
            </a:pPr>
            <a:r>
              <a:rPr sz="4600" b="1" i="0">
                <a:solidFill>
                  <a:srgbClr val="1A2332"/>
                </a:solidFill>
                <a:latin typeface="Arial"/>
              </a:rPr>
              <a:t>FFT-</a:t>
            </a:r>
            <a:r>
              <a:rPr sz="4600" b="1" i="0" dirty="0" err="1">
                <a:solidFill>
                  <a:srgbClr val="1A2332"/>
                </a:solidFill>
                <a:latin typeface="Arial"/>
              </a:rPr>
              <a:t>Fensterfunktionen</a:t>
            </a:r>
            <a:endParaRPr sz="4600" b="1" i="0" dirty="0">
              <a:solidFill>
                <a:srgbClr val="1A2332"/>
              </a:solidFill>
              <a:latin typeface="Arial"/>
            </a:endParaRPr>
          </a:p>
          <a:p>
            <a:pPr algn="l">
              <a:spcBef>
                <a:spcPts val="0"/>
              </a:spcBef>
              <a:spcAft>
                <a:spcPts val="1000"/>
              </a:spcAft>
            </a:pPr>
            <a:r>
              <a:rPr sz="4600" b="1" i="0" dirty="0">
                <a:solidFill>
                  <a:srgbClr val="D62828"/>
                </a:solidFill>
                <a:latin typeface="Arial"/>
              </a:rPr>
              <a:t>in der HRV-</a:t>
            </a:r>
            <a:r>
              <a:rPr sz="4600" b="1" i="0" dirty="0" err="1">
                <a:solidFill>
                  <a:srgbClr val="D62828"/>
                </a:solidFill>
                <a:latin typeface="Arial"/>
              </a:rPr>
              <a:t>Analyse</a:t>
            </a:r>
            <a:endParaRPr sz="4600" b="1" i="0" dirty="0">
              <a:solidFill>
                <a:srgbClr val="D62828"/>
              </a:solidFill>
              <a:latin typeface="Arial"/>
            </a:endParaRPr>
          </a:p>
          <a:p>
            <a:pPr algn="l">
              <a:spcBef>
                <a:spcPts val="0"/>
              </a:spcBef>
              <a:spcAft>
                <a:spcPts val="0"/>
              </a:spcAft>
            </a:pPr>
            <a:r>
              <a:rPr sz="1900" b="0" i="0" dirty="0">
                <a:solidFill>
                  <a:srgbClr val="6C7A89"/>
                </a:solidFill>
                <a:latin typeface="Arial"/>
              </a:rPr>
              <a:t>Wie die Wahl der </a:t>
            </a:r>
            <a:r>
              <a:rPr sz="1900" b="0" i="0" dirty="0" err="1">
                <a:solidFill>
                  <a:srgbClr val="6C7A89"/>
                </a:solidFill>
                <a:latin typeface="Arial"/>
              </a:rPr>
              <a:t>Fensterfunktion</a:t>
            </a:r>
            <a:r>
              <a:rPr sz="1900" b="0" i="0" dirty="0">
                <a:solidFill>
                  <a:srgbClr val="6C7A89"/>
                </a:solidFill>
                <a:latin typeface="Arial"/>
              </a:rPr>
              <a:t> die </a:t>
            </a:r>
            <a:r>
              <a:rPr sz="1900" b="0" i="0" dirty="0" err="1">
                <a:solidFill>
                  <a:srgbClr val="6C7A89"/>
                </a:solidFill>
                <a:latin typeface="Arial"/>
              </a:rPr>
              <a:t>Herzfrequenz­variabilität</a:t>
            </a:r>
            <a:r>
              <a:rPr sz="1900" b="0" i="0" dirty="0">
                <a:solidFill>
                  <a:srgbClr val="6C7A89"/>
                </a:solidFill>
                <a:latin typeface="Arial"/>
              </a:rPr>
              <a:t> </a:t>
            </a:r>
            <a:r>
              <a:rPr sz="1900" b="0" i="0" dirty="0" err="1">
                <a:solidFill>
                  <a:srgbClr val="6C7A89"/>
                </a:solidFill>
                <a:latin typeface="Arial"/>
              </a:rPr>
              <a:t>verändert</a:t>
            </a:r>
            <a:endParaRPr sz="1900" b="0" i="0" dirty="0">
              <a:solidFill>
                <a:srgbClr val="6C7A89"/>
              </a:solidFill>
              <a:latin typeface="Arial"/>
            </a:endParaRPr>
          </a:p>
        </p:txBody>
      </p:sp>
      <p:sp>
        <p:nvSpPr>
          <p:cNvPr id="4" name="TextBox 3"/>
          <p:cNvSpPr txBox="1"/>
          <p:nvPr/>
        </p:nvSpPr>
        <p:spPr>
          <a:xfrm>
            <a:off x="822960" y="5074920"/>
            <a:ext cx="10515600" cy="471924"/>
          </a:xfrm>
          <a:prstGeom prst="rect">
            <a:avLst/>
          </a:prstGeom>
          <a:noFill/>
        </p:spPr>
        <p:txBody>
          <a:bodyPr wrap="square" lIns="0" tIns="0" rIns="0" bIns="0" anchor="t">
            <a:spAutoFit/>
          </a:bodyPr>
          <a:lstStyle/>
          <a:p>
            <a:pPr algn="l">
              <a:spcBef>
                <a:spcPts val="0"/>
              </a:spcBef>
              <a:spcAft>
                <a:spcPts val="200"/>
              </a:spcAft>
            </a:pPr>
            <a:r>
              <a:rPr sz="1600" b="1" i="0" dirty="0">
                <a:solidFill>
                  <a:srgbClr val="1A2332"/>
                </a:solidFill>
                <a:latin typeface="Arial"/>
              </a:rPr>
              <a:t>Jannik Oeschger  ·  </a:t>
            </a:r>
            <a:r>
              <a:rPr lang="de-DE" sz="1600" b="1" dirty="0">
                <a:solidFill>
                  <a:srgbClr val="1A2332"/>
                </a:solidFill>
                <a:latin typeface="Arial"/>
              </a:rPr>
              <a:t>Arvid Haase</a:t>
            </a:r>
            <a:endParaRPr sz="1600" b="1" i="0" dirty="0">
              <a:solidFill>
                <a:srgbClr val="1A2332"/>
              </a:solidFill>
              <a:latin typeface="Arial"/>
            </a:endParaRPr>
          </a:p>
          <a:p>
            <a:pPr algn="l">
              <a:spcBef>
                <a:spcPts val="0"/>
              </a:spcBef>
              <a:spcAft>
                <a:spcPts val="600"/>
              </a:spcAft>
            </a:pPr>
            <a:r>
              <a:rPr sz="1300" b="0" i="0" dirty="0">
                <a:solidFill>
                  <a:srgbClr val="6C7A89"/>
                </a:solidFill>
                <a:latin typeface="Arial"/>
              </a:rPr>
              <a:t>DHBW  ·  MATLAB   ·  </a:t>
            </a:r>
            <a:r>
              <a:rPr sz="1300" b="0" i="0" dirty="0" err="1">
                <a:solidFill>
                  <a:srgbClr val="6C7A89"/>
                </a:solidFill>
                <a:latin typeface="Arial"/>
              </a:rPr>
              <a:t>Sommersemester</a:t>
            </a:r>
            <a:r>
              <a:rPr sz="1300" b="0" i="0" dirty="0">
                <a:solidFill>
                  <a:srgbClr val="6C7A89"/>
                </a:solidFill>
                <a:latin typeface="Arial"/>
              </a:rPr>
              <a:t> 2026</a:t>
            </a:r>
          </a:p>
        </p:txBody>
      </p:sp>
      <p:cxnSp>
        <p:nvCxnSpPr>
          <p:cNvPr id="5" name="Connector 4"/>
          <p:cNvCxnSpPr/>
          <p:nvPr/>
        </p:nvCxnSpPr>
        <p:spPr>
          <a:xfrm>
            <a:off x="0" y="6419088"/>
            <a:ext cx="32004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320040" y="6387998"/>
            <a:ext cx="91440" cy="3109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11480" y="6387998"/>
            <a:ext cx="91440" cy="3109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02920" y="6419088"/>
            <a:ext cx="13716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 y="6419088"/>
            <a:ext cx="73152" cy="43525"/>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713232" y="6108192"/>
            <a:ext cx="91440" cy="354421"/>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04672" y="6108192"/>
            <a:ext cx="82296" cy="379293"/>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886968" y="6419088"/>
            <a:ext cx="73152" cy="68397"/>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960120" y="6419088"/>
            <a:ext cx="18288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1143000" y="6369344"/>
            <a:ext cx="100584" cy="49744"/>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243584" y="6369344"/>
            <a:ext cx="100584" cy="49744"/>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344168" y="6419088"/>
            <a:ext cx="73152"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417320" y="6419088"/>
            <a:ext cx="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17320" y="6419088"/>
            <a:ext cx="32004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1737360" y="6387998"/>
            <a:ext cx="91440" cy="3109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828800" y="6387998"/>
            <a:ext cx="91440" cy="3109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920240" y="6419088"/>
            <a:ext cx="13716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057400" y="6419088"/>
            <a:ext cx="73152" cy="43525"/>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2130552" y="6108192"/>
            <a:ext cx="91440" cy="354421"/>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2221992" y="6108192"/>
            <a:ext cx="82296" cy="379293"/>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2304288" y="6419088"/>
            <a:ext cx="73152" cy="68397"/>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2377440" y="6419088"/>
            <a:ext cx="18288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2560320" y="6369344"/>
            <a:ext cx="100584" cy="49744"/>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2660904" y="6369344"/>
            <a:ext cx="100584" cy="49744"/>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2761488" y="6419088"/>
            <a:ext cx="73152"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2834640" y="6419088"/>
            <a:ext cx="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2834640" y="6419088"/>
            <a:ext cx="32004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3154680" y="6387998"/>
            <a:ext cx="91440" cy="3109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3246120" y="6387998"/>
            <a:ext cx="91440" cy="3109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3337560" y="6419088"/>
            <a:ext cx="13716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3474720" y="6419088"/>
            <a:ext cx="73152" cy="43525"/>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3547872" y="6108192"/>
            <a:ext cx="91440" cy="354421"/>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3639312" y="6108192"/>
            <a:ext cx="82296" cy="379293"/>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3721608" y="6419088"/>
            <a:ext cx="73152" cy="68397"/>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3794760" y="6419088"/>
            <a:ext cx="182879"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3977639" y="6369344"/>
            <a:ext cx="100585" cy="49744"/>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4078224" y="6369344"/>
            <a:ext cx="100584" cy="49744"/>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4178808" y="6419088"/>
            <a:ext cx="73152"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4251960" y="6419088"/>
            <a:ext cx="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4251960" y="6419088"/>
            <a:ext cx="32004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4572000" y="6387998"/>
            <a:ext cx="91440" cy="3109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4663440" y="6387998"/>
            <a:ext cx="91440" cy="3109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4754880" y="6419088"/>
            <a:ext cx="13716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4892040" y="6419088"/>
            <a:ext cx="73152" cy="43525"/>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4965192" y="6108192"/>
            <a:ext cx="91440" cy="354421"/>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5056632" y="6108192"/>
            <a:ext cx="82296" cy="379293"/>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5138928" y="6419088"/>
            <a:ext cx="73152" cy="68397"/>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5212080" y="6419088"/>
            <a:ext cx="18288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5394960" y="6369344"/>
            <a:ext cx="100584" cy="49744"/>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5495544" y="6369344"/>
            <a:ext cx="100584" cy="49744"/>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5596128" y="6419088"/>
            <a:ext cx="73152"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5669280" y="6419088"/>
            <a:ext cx="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5669280" y="6419088"/>
            <a:ext cx="32004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V="1">
            <a:off x="5989320" y="6387998"/>
            <a:ext cx="91440" cy="3109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6080760" y="6387998"/>
            <a:ext cx="91440" cy="3109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6172200" y="6419088"/>
            <a:ext cx="13716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6309360" y="6419088"/>
            <a:ext cx="73152" cy="43525"/>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V="1">
            <a:off x="6382512" y="6108192"/>
            <a:ext cx="91440" cy="354421"/>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6473952" y="6108192"/>
            <a:ext cx="82296" cy="379293"/>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V="1">
            <a:off x="6556248" y="6419088"/>
            <a:ext cx="73152" cy="68397"/>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6629400" y="6419088"/>
            <a:ext cx="18288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V="1">
            <a:off x="6812280" y="6369344"/>
            <a:ext cx="100584" cy="49744"/>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6912864" y="6369344"/>
            <a:ext cx="100584" cy="49744"/>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a:off x="7013448" y="6419088"/>
            <a:ext cx="73152"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7086600" y="6419088"/>
            <a:ext cx="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7086600" y="6419088"/>
            <a:ext cx="32004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V="1">
            <a:off x="7406640" y="6387998"/>
            <a:ext cx="91439" cy="3109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7498079" y="6387998"/>
            <a:ext cx="91441" cy="3109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a:off x="7589520" y="6419088"/>
            <a:ext cx="137159"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a:off x="7726679" y="6419088"/>
            <a:ext cx="73152" cy="43525"/>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V="1">
            <a:off x="7799831" y="6108192"/>
            <a:ext cx="91441" cy="354421"/>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a:off x="7891272" y="6108192"/>
            <a:ext cx="82296" cy="379293"/>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flipV="1">
            <a:off x="7973568" y="6419088"/>
            <a:ext cx="73152" cy="68397"/>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8046720" y="6419088"/>
            <a:ext cx="18288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V="1">
            <a:off x="8229600" y="6369344"/>
            <a:ext cx="100583" cy="49744"/>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8330183" y="6369344"/>
            <a:ext cx="100585" cy="49744"/>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a:off x="8430768" y="6419088"/>
            <a:ext cx="73152"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a:off x="8503920" y="6419088"/>
            <a:ext cx="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8503920" y="6419088"/>
            <a:ext cx="32004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V="1">
            <a:off x="8823960" y="6387998"/>
            <a:ext cx="91440" cy="3109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a:off x="8915400" y="6387998"/>
            <a:ext cx="91440" cy="3109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a:off x="9006840" y="6419088"/>
            <a:ext cx="13716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a:off x="9144000" y="6419088"/>
            <a:ext cx="73152" cy="43525"/>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9217152" y="6108192"/>
            <a:ext cx="91440" cy="354421"/>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a:off x="9308592" y="6108192"/>
            <a:ext cx="82296" cy="379293"/>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flipV="1">
            <a:off x="9390888" y="6419088"/>
            <a:ext cx="73152" cy="68397"/>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a:off x="9464040" y="6419088"/>
            <a:ext cx="18288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flipV="1">
            <a:off x="9646920" y="6369344"/>
            <a:ext cx="100584" cy="49744"/>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9747504" y="6369344"/>
            <a:ext cx="100584" cy="49744"/>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a:off x="9848088" y="6419088"/>
            <a:ext cx="73152"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a:off x="9921240" y="6419088"/>
            <a:ext cx="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a:off x="9921240" y="6419088"/>
            <a:ext cx="32004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flipV="1">
            <a:off x="10241280" y="6387998"/>
            <a:ext cx="91440" cy="3109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a:off x="10332720" y="6387998"/>
            <a:ext cx="91440" cy="3109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a:off x="10424160" y="6419088"/>
            <a:ext cx="13716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a:off x="10561320" y="6419088"/>
            <a:ext cx="73152" cy="43525"/>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flipV="1">
            <a:off x="10634472" y="6108192"/>
            <a:ext cx="91440" cy="354421"/>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a:off x="10725912" y="6108192"/>
            <a:ext cx="82296" cy="379293"/>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flipV="1">
            <a:off x="10808208" y="6419088"/>
            <a:ext cx="73152" cy="68397"/>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a:off x="10881360" y="6419088"/>
            <a:ext cx="18288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flipV="1">
            <a:off x="11064240" y="6369344"/>
            <a:ext cx="100584" cy="49744"/>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a:off x="11164824" y="6369344"/>
            <a:ext cx="100584" cy="49744"/>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a:off x="11265408" y="6419088"/>
            <a:ext cx="73152"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a:off x="11338560" y="6419088"/>
            <a:ext cx="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a:off x="11338560" y="6419088"/>
            <a:ext cx="32004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flipV="1">
            <a:off x="11658600" y="6387998"/>
            <a:ext cx="91440" cy="3109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a:off x="11750040" y="6387998"/>
            <a:ext cx="91440" cy="3109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a:off x="11841480" y="6419088"/>
            <a:ext cx="13716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a:off x="11978640" y="6419088"/>
            <a:ext cx="73152" cy="43525"/>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flipV="1">
            <a:off x="12051792" y="6108192"/>
            <a:ext cx="91440" cy="354421"/>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502920"/>
            <a:ext cx="10972800" cy="1005840"/>
          </a:xfrm>
          <a:prstGeom prst="rect">
            <a:avLst/>
          </a:prstGeom>
          <a:noFill/>
        </p:spPr>
        <p:txBody>
          <a:bodyPr wrap="square" lIns="0" tIns="0" rIns="0" bIns="0" anchor="t">
            <a:spAutoFit/>
          </a:bodyPr>
          <a:lstStyle/>
          <a:p>
            <a:pPr algn="l">
              <a:spcBef>
                <a:spcPts val="0"/>
              </a:spcBef>
              <a:spcAft>
                <a:spcPts val="0"/>
              </a:spcAft>
            </a:pPr>
            <a:r>
              <a:rPr lang="de-DE" sz="3000" b="1" i="0" noProof="0" dirty="0">
                <a:solidFill>
                  <a:srgbClr val="1A2332"/>
                </a:solidFill>
                <a:latin typeface="Arial"/>
              </a:rPr>
              <a:t>Worum geht es?</a:t>
            </a:r>
          </a:p>
        </p:txBody>
      </p:sp>
      <p:sp>
        <p:nvSpPr>
          <p:cNvPr id="3" name="Rectangle 2"/>
          <p:cNvSpPr/>
          <p:nvPr/>
        </p:nvSpPr>
        <p:spPr>
          <a:xfrm>
            <a:off x="658368" y="1170432"/>
            <a:ext cx="1005840"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de-DE" noProof="0" dirty="0"/>
          </a:p>
        </p:txBody>
      </p:sp>
      <p:sp>
        <p:nvSpPr>
          <p:cNvPr id="4" name="TextBox 3"/>
          <p:cNvSpPr txBox="1"/>
          <p:nvPr/>
        </p:nvSpPr>
        <p:spPr>
          <a:xfrm>
            <a:off x="822960" y="1920240"/>
            <a:ext cx="10607040" cy="3231654"/>
          </a:xfrm>
          <a:prstGeom prst="rect">
            <a:avLst/>
          </a:prstGeom>
          <a:noFill/>
        </p:spPr>
        <p:txBody>
          <a:bodyPr wrap="square" lIns="0" tIns="0" rIns="0" bIns="0" anchor="t">
            <a:spAutoFit/>
          </a:bodyPr>
          <a:lstStyle/>
          <a:p>
            <a:pPr algn="l">
              <a:spcBef>
                <a:spcPts val="0"/>
              </a:spcBef>
              <a:spcAft>
                <a:spcPts val="1600"/>
              </a:spcAft>
            </a:pPr>
            <a:r>
              <a:rPr lang="de-DE" sz="2100" b="0" i="0" noProof="0" dirty="0">
                <a:solidFill>
                  <a:srgbClr val="1A2332"/>
                </a:solidFill>
                <a:latin typeface="Arial"/>
              </a:rPr>
              <a:t>Das Herz schlägt nie exakt gleichmäßig. </a:t>
            </a:r>
            <a:r>
              <a:rPr lang="de-DE" sz="2100" noProof="0" dirty="0">
                <a:solidFill>
                  <a:srgbClr val="1A2332"/>
                </a:solidFill>
                <a:latin typeface="Arial"/>
              </a:rPr>
              <a:t>I</a:t>
            </a:r>
            <a:r>
              <a:rPr lang="de-DE" sz="2100" b="0" i="0" noProof="0" dirty="0">
                <a:solidFill>
                  <a:srgbClr val="1A2332"/>
                </a:solidFill>
                <a:latin typeface="Arial"/>
              </a:rPr>
              <a:t>n den kleinen Schwankungen der Schlagabstände stecken Rhythmen (Atmung, Blutdruck­regelung).</a:t>
            </a:r>
          </a:p>
          <a:p>
            <a:pPr algn="l">
              <a:spcBef>
                <a:spcPts val="0"/>
              </a:spcBef>
              <a:spcAft>
                <a:spcPts val="1600"/>
              </a:spcAft>
            </a:pPr>
            <a:r>
              <a:rPr lang="de-DE" sz="2100" b="0" i="0" noProof="0" dirty="0">
                <a:solidFill>
                  <a:srgbClr val="1A2332"/>
                </a:solidFill>
                <a:latin typeface="Arial"/>
              </a:rPr>
              <a:t>Die FFT macht diese Rhythmen als Frequenzen sichtbar</a:t>
            </a:r>
            <a:r>
              <a:rPr lang="de-DE" sz="2100" noProof="0" dirty="0">
                <a:solidFill>
                  <a:srgbClr val="1A2332"/>
                </a:solidFill>
                <a:latin typeface="Arial"/>
              </a:rPr>
              <a:t>,</a:t>
            </a:r>
            <a:r>
              <a:rPr lang="de-DE" sz="2100" b="0" i="0" noProof="0" dirty="0">
                <a:solidFill>
                  <a:srgbClr val="1A2332"/>
                </a:solidFill>
                <a:latin typeface="Arial"/>
              </a:rPr>
              <a:t> aber ein endlicher Signalausschnitt erzeugt „</a:t>
            </a:r>
            <a:r>
              <a:rPr lang="de-DE" sz="2100" b="0" i="0" noProof="0" dirty="0" err="1">
                <a:solidFill>
                  <a:srgbClr val="1A2332"/>
                </a:solidFill>
                <a:latin typeface="Arial"/>
              </a:rPr>
              <a:t>Spectral</a:t>
            </a:r>
            <a:r>
              <a:rPr lang="de-DE" sz="2100" b="0" i="0" noProof="0" dirty="0">
                <a:solidFill>
                  <a:srgbClr val="1A2332"/>
                </a:solidFill>
                <a:latin typeface="Arial"/>
              </a:rPr>
              <a:t> Leakage“, das die Werte verfälscht.</a:t>
            </a:r>
          </a:p>
          <a:p>
            <a:pPr algn="l">
              <a:spcBef>
                <a:spcPts val="0"/>
              </a:spcBef>
              <a:spcAft>
                <a:spcPts val="1600"/>
              </a:spcAft>
            </a:pPr>
            <a:r>
              <a:rPr lang="de-DE" sz="2100" b="0" i="0" noProof="0" dirty="0">
                <a:solidFill>
                  <a:srgbClr val="1A2332"/>
                </a:solidFill>
                <a:latin typeface="Arial"/>
              </a:rPr>
              <a:t>Fensterfunktionen dämpfen dieses Leakage, verbreitern jedoch die Hauptkeule und verschlechtern damit die Frequenzauflösung.</a:t>
            </a:r>
          </a:p>
          <a:p>
            <a:pPr algn="l">
              <a:spcBef>
                <a:spcPts val="0"/>
              </a:spcBef>
              <a:spcAft>
                <a:spcPts val="0"/>
              </a:spcAft>
            </a:pPr>
            <a:endParaRPr lang="de-DE" sz="2200" b="1" i="0" noProof="0" dirty="0">
              <a:solidFill>
                <a:srgbClr val="D62828"/>
              </a:solidFill>
              <a:latin typeface="Arial"/>
            </a:endParaRPr>
          </a:p>
          <a:p>
            <a:pPr algn="l">
              <a:spcBef>
                <a:spcPts val="0"/>
              </a:spcBef>
              <a:spcAft>
                <a:spcPts val="0"/>
              </a:spcAft>
            </a:pPr>
            <a:r>
              <a:rPr lang="de-DE" sz="2200" b="1" i="0" noProof="0" dirty="0">
                <a:solidFill>
                  <a:srgbClr val="D62828"/>
                </a:solidFill>
                <a:latin typeface="Arial"/>
              </a:rPr>
              <a:t>→  Welches Fenster ist der beste Kompromiss?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A2332"/>
        </a:solidFill>
        <a:effectLst/>
      </p:bgPr>
    </p:bg>
    <p:spTree>
      <p:nvGrpSpPr>
        <p:cNvPr id="1" name=""/>
        <p:cNvGrpSpPr/>
        <p:nvPr/>
      </p:nvGrpSpPr>
      <p:grpSpPr>
        <a:xfrm>
          <a:off x="0" y="0"/>
          <a:ext cx="0" cy="0"/>
          <a:chOff x="0" y="0"/>
          <a:chExt cx="0" cy="0"/>
        </a:xfrm>
      </p:grpSpPr>
      <p:sp>
        <p:nvSpPr>
          <p:cNvPr id="2" name="Rectangle 1"/>
          <p:cNvSpPr/>
          <p:nvPr/>
        </p:nvSpPr>
        <p:spPr>
          <a:xfrm>
            <a:off x="822960" y="868680"/>
            <a:ext cx="1280160" cy="100584"/>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1051560"/>
            <a:ext cx="10515600" cy="1097280"/>
          </a:xfrm>
          <a:prstGeom prst="rect">
            <a:avLst/>
          </a:prstGeom>
          <a:noFill/>
        </p:spPr>
        <p:txBody>
          <a:bodyPr wrap="square" lIns="0" tIns="0" rIns="0" bIns="0" anchor="t">
            <a:spAutoFit/>
          </a:bodyPr>
          <a:lstStyle/>
          <a:p>
            <a:pPr algn="l">
              <a:spcBef>
                <a:spcPts val="0"/>
              </a:spcBef>
              <a:spcAft>
                <a:spcPts val="0"/>
              </a:spcAft>
            </a:pPr>
            <a:r>
              <a:rPr sz="4600" b="1" i="0">
                <a:solidFill>
                  <a:srgbClr val="FFFFFF"/>
                </a:solidFill>
                <a:latin typeface="Arial"/>
              </a:rPr>
              <a:t>LIVE-DEMO</a:t>
            </a:r>
          </a:p>
        </p:txBody>
      </p:sp>
      <p:sp>
        <p:nvSpPr>
          <p:cNvPr id="4" name="TextBox 3"/>
          <p:cNvSpPr txBox="1"/>
          <p:nvPr/>
        </p:nvSpPr>
        <p:spPr>
          <a:xfrm>
            <a:off x="822960" y="1965960"/>
            <a:ext cx="10607040" cy="548640"/>
          </a:xfrm>
          <a:prstGeom prst="rect">
            <a:avLst/>
          </a:prstGeom>
          <a:noFill/>
        </p:spPr>
        <p:txBody>
          <a:bodyPr wrap="square" lIns="0" tIns="0" rIns="0" bIns="0" anchor="t">
            <a:spAutoFit/>
          </a:bodyPr>
          <a:lstStyle/>
          <a:p>
            <a:pPr algn="l">
              <a:spcBef>
                <a:spcPts val="0"/>
              </a:spcBef>
              <a:spcAft>
                <a:spcPts val="600"/>
              </a:spcAft>
            </a:pPr>
            <a:r>
              <a:rPr sz="1800" b="0" i="0">
                <a:solidFill>
                  <a:srgbClr val="B8C2CC"/>
                </a:solidFill>
                <a:latin typeface="Arial"/>
              </a:rPr>
              <a:t>MATLAB: Code-Struktur &amp; Ergebnisse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502920"/>
            <a:ext cx="10972800" cy="461665"/>
          </a:xfrm>
          <a:prstGeom prst="rect">
            <a:avLst/>
          </a:prstGeom>
          <a:noFill/>
        </p:spPr>
        <p:txBody>
          <a:bodyPr wrap="square" lIns="0" tIns="0" rIns="0" bIns="0" anchor="t">
            <a:spAutoFit/>
          </a:bodyPr>
          <a:lstStyle/>
          <a:p>
            <a:pPr algn="l">
              <a:spcBef>
                <a:spcPts val="0"/>
              </a:spcBef>
              <a:spcAft>
                <a:spcPts val="0"/>
              </a:spcAft>
            </a:pPr>
            <a:r>
              <a:rPr lang="de-DE" sz="3000" b="1" i="0" dirty="0">
                <a:solidFill>
                  <a:srgbClr val="1A2332"/>
                </a:solidFill>
                <a:latin typeface="Arial"/>
              </a:rPr>
              <a:t>Hauptkeulen Unterschied</a:t>
            </a:r>
          </a:p>
        </p:txBody>
      </p:sp>
      <p:sp>
        <p:nvSpPr>
          <p:cNvPr id="3" name="Rectangle 2"/>
          <p:cNvSpPr/>
          <p:nvPr/>
        </p:nvSpPr>
        <p:spPr>
          <a:xfrm>
            <a:off x="658368" y="1170432"/>
            <a:ext cx="1005840"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Grafik 9">
            <a:extLst>
              <a:ext uri="{FF2B5EF4-FFF2-40B4-BE49-F238E27FC236}">
                <a16:creationId xmlns:a16="http://schemas.microsoft.com/office/drawing/2014/main" id="{6E0C536B-7D84-20F0-EF43-1251F42B5C60}"/>
              </a:ext>
            </a:extLst>
          </p:cNvPr>
          <p:cNvPicPr>
            <a:picLocks noChangeAspect="1"/>
          </p:cNvPicPr>
          <p:nvPr/>
        </p:nvPicPr>
        <p:blipFill>
          <a:blip r:embed="rId3"/>
          <a:stretch>
            <a:fillRect/>
          </a:stretch>
        </p:blipFill>
        <p:spPr>
          <a:xfrm>
            <a:off x="183882" y="1519693"/>
            <a:ext cx="5786250" cy="3818614"/>
          </a:xfrm>
          <a:prstGeom prst="rect">
            <a:avLst/>
          </a:prstGeom>
        </p:spPr>
      </p:pic>
      <p:pic>
        <p:nvPicPr>
          <p:cNvPr id="11" name="Grafik 10">
            <a:extLst>
              <a:ext uri="{FF2B5EF4-FFF2-40B4-BE49-F238E27FC236}">
                <a16:creationId xmlns:a16="http://schemas.microsoft.com/office/drawing/2014/main" id="{E6E73D98-395F-3ABB-E8E2-5172BDAA8348}"/>
              </a:ext>
            </a:extLst>
          </p:cNvPr>
          <p:cNvPicPr>
            <a:picLocks noChangeAspect="1"/>
          </p:cNvPicPr>
          <p:nvPr/>
        </p:nvPicPr>
        <p:blipFill>
          <a:blip r:embed="rId4"/>
          <a:stretch>
            <a:fillRect/>
          </a:stretch>
        </p:blipFill>
        <p:spPr>
          <a:xfrm>
            <a:off x="6096000" y="1540004"/>
            <a:ext cx="5817360" cy="3798303"/>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DA9D6E-FEB5-CB3A-070E-D4BFE12A684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D4B861B2-4F57-5458-8D03-C75FAC7CDA4B}"/>
              </a:ext>
            </a:extLst>
          </p:cNvPr>
          <p:cNvSpPr txBox="1"/>
          <p:nvPr/>
        </p:nvSpPr>
        <p:spPr>
          <a:xfrm>
            <a:off x="640080" y="502920"/>
            <a:ext cx="10972800" cy="1005840"/>
          </a:xfrm>
          <a:prstGeom prst="rect">
            <a:avLst/>
          </a:prstGeom>
          <a:noFill/>
        </p:spPr>
        <p:txBody>
          <a:bodyPr wrap="square" lIns="0" tIns="0" rIns="0" bIns="0" anchor="t">
            <a:spAutoFit/>
          </a:bodyPr>
          <a:lstStyle/>
          <a:p>
            <a:pPr algn="l">
              <a:spcBef>
                <a:spcPts val="0"/>
              </a:spcBef>
              <a:spcAft>
                <a:spcPts val="0"/>
              </a:spcAft>
            </a:pPr>
            <a:r>
              <a:rPr sz="3000" b="1" i="0">
                <a:solidFill>
                  <a:srgbClr val="1A2332"/>
                </a:solidFill>
                <a:latin typeface="Arial"/>
              </a:rPr>
              <a:t>Was wir sehen</a:t>
            </a:r>
          </a:p>
        </p:txBody>
      </p:sp>
      <p:sp>
        <p:nvSpPr>
          <p:cNvPr id="3" name="Rectangle 2">
            <a:extLst>
              <a:ext uri="{FF2B5EF4-FFF2-40B4-BE49-F238E27FC236}">
                <a16:creationId xmlns:a16="http://schemas.microsoft.com/office/drawing/2014/main" id="{F3677843-D818-0C08-8187-0F44FDB6F53F}"/>
              </a:ext>
            </a:extLst>
          </p:cNvPr>
          <p:cNvSpPr/>
          <p:nvPr/>
        </p:nvSpPr>
        <p:spPr>
          <a:xfrm>
            <a:off x="658368" y="1170432"/>
            <a:ext cx="1005840"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a:extLst>
              <a:ext uri="{FF2B5EF4-FFF2-40B4-BE49-F238E27FC236}">
                <a16:creationId xmlns:a16="http://schemas.microsoft.com/office/drawing/2014/main" id="{6602EF99-55B3-59DB-565F-B4125AEE5009}"/>
              </a:ext>
            </a:extLst>
          </p:cNvPr>
          <p:cNvSpPr txBox="1"/>
          <p:nvPr/>
        </p:nvSpPr>
        <p:spPr>
          <a:xfrm>
            <a:off x="822960" y="1874519"/>
            <a:ext cx="10607040" cy="307777"/>
          </a:xfrm>
          <a:prstGeom prst="rect">
            <a:avLst/>
          </a:prstGeom>
          <a:noFill/>
        </p:spPr>
        <p:txBody>
          <a:bodyPr wrap="square" lIns="0" tIns="0" rIns="0" bIns="0" anchor="t">
            <a:spAutoFit/>
          </a:bodyPr>
          <a:lstStyle/>
          <a:p>
            <a:pPr algn="l">
              <a:spcBef>
                <a:spcPts val="0"/>
              </a:spcBef>
              <a:spcAft>
                <a:spcPts val="600"/>
              </a:spcAft>
            </a:pPr>
            <a:r>
              <a:rPr sz="2000" b="0" i="0" dirty="0">
                <a:solidFill>
                  <a:srgbClr val="1A2332"/>
                </a:solidFill>
                <a:latin typeface="Arial"/>
              </a:rPr>
              <a:t>Leakage </a:t>
            </a:r>
            <a:r>
              <a:rPr sz="2000" b="0" i="0" dirty="0" err="1">
                <a:solidFill>
                  <a:srgbClr val="1A2332"/>
                </a:solidFill>
                <a:latin typeface="Arial"/>
              </a:rPr>
              <a:t>bläht</a:t>
            </a:r>
            <a:r>
              <a:rPr sz="2000" b="0" i="0" dirty="0">
                <a:solidFill>
                  <a:srgbClr val="1A2332"/>
                </a:solidFill>
                <a:latin typeface="Arial"/>
              </a:rPr>
              <a:t> das </a:t>
            </a:r>
            <a:r>
              <a:rPr sz="2000" b="0" i="0" dirty="0" err="1">
                <a:solidFill>
                  <a:srgbClr val="1A2332"/>
                </a:solidFill>
                <a:latin typeface="Arial"/>
              </a:rPr>
              <a:t>schwache</a:t>
            </a:r>
            <a:r>
              <a:rPr sz="2000" b="0" i="0" dirty="0">
                <a:solidFill>
                  <a:srgbClr val="1A2332"/>
                </a:solidFill>
                <a:latin typeface="Arial"/>
              </a:rPr>
              <a:t> HF-Band auf.</a:t>
            </a:r>
            <a:r>
              <a:rPr lang="de-DE" sz="2000" b="0" i="0" dirty="0">
                <a:solidFill>
                  <a:srgbClr val="1A2332"/>
                </a:solidFill>
                <a:latin typeface="Arial"/>
              </a:rPr>
              <a:t> Dieselbe Messung, nur ein anderes Fenster:</a:t>
            </a:r>
            <a:endParaRPr sz="2000" b="0" i="0" dirty="0">
              <a:solidFill>
                <a:srgbClr val="1A2332"/>
              </a:solidFill>
              <a:latin typeface="Arial"/>
            </a:endParaRPr>
          </a:p>
        </p:txBody>
      </p:sp>
      <p:sp>
        <p:nvSpPr>
          <p:cNvPr id="5" name="Rounded Rectangle 4">
            <a:extLst>
              <a:ext uri="{FF2B5EF4-FFF2-40B4-BE49-F238E27FC236}">
                <a16:creationId xmlns:a16="http://schemas.microsoft.com/office/drawing/2014/main" id="{5162A21D-96A6-6823-B517-58B16260A024}"/>
              </a:ext>
            </a:extLst>
          </p:cNvPr>
          <p:cNvSpPr/>
          <p:nvPr/>
        </p:nvSpPr>
        <p:spPr>
          <a:xfrm>
            <a:off x="822960" y="2971800"/>
            <a:ext cx="3291840" cy="1371600"/>
          </a:xfrm>
          <a:prstGeom prst="roundRect">
            <a:avLst/>
          </a:prstGeom>
          <a:solidFill>
            <a:srgbClr val="F4F6F8"/>
          </a:solidFill>
          <a:ln w="19050">
            <a:solidFill>
              <a:srgbClr val="D62828"/>
            </a:solid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spcBef>
                <a:spcPts val="0"/>
              </a:spcBef>
              <a:spcAft>
                <a:spcPts val="0"/>
              </a:spcAft>
            </a:pPr>
            <a:r>
              <a:rPr sz="1700" b="1" i="0">
                <a:solidFill>
                  <a:srgbClr val="1A2332"/>
                </a:solidFill>
                <a:latin typeface="Arial"/>
              </a:rPr>
              <a:t>Rechteck
HF ≈ 31 ms²
LF/HF = 3,4</a:t>
            </a:r>
          </a:p>
        </p:txBody>
      </p:sp>
      <p:sp>
        <p:nvSpPr>
          <p:cNvPr id="6" name="Right Arrow 5">
            <a:extLst>
              <a:ext uri="{FF2B5EF4-FFF2-40B4-BE49-F238E27FC236}">
                <a16:creationId xmlns:a16="http://schemas.microsoft.com/office/drawing/2014/main" id="{3D702AC9-1D8D-575F-B877-356B6494A077}"/>
              </a:ext>
            </a:extLst>
          </p:cNvPr>
          <p:cNvSpPr/>
          <p:nvPr/>
        </p:nvSpPr>
        <p:spPr>
          <a:xfrm>
            <a:off x="4343400" y="3520440"/>
            <a:ext cx="502920" cy="292608"/>
          </a:xfrm>
          <a:prstGeom prst="rightArrow">
            <a:avLst/>
          </a:prstGeom>
          <a:solidFill>
            <a:srgbClr val="6C7A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a:extLst>
              <a:ext uri="{FF2B5EF4-FFF2-40B4-BE49-F238E27FC236}">
                <a16:creationId xmlns:a16="http://schemas.microsoft.com/office/drawing/2014/main" id="{5D7C3F74-87A9-E60C-FAC1-142011FCC5CF}"/>
              </a:ext>
            </a:extLst>
          </p:cNvPr>
          <p:cNvSpPr/>
          <p:nvPr/>
        </p:nvSpPr>
        <p:spPr>
          <a:xfrm>
            <a:off x="5120640" y="2971800"/>
            <a:ext cx="3291840" cy="1371600"/>
          </a:xfrm>
          <a:prstGeom prst="roundRect">
            <a:avLst/>
          </a:prstGeom>
          <a:solidFill>
            <a:srgbClr val="F4F6F8"/>
          </a:solidFill>
          <a:ln w="19050">
            <a:solidFill>
              <a:srgbClr val="1A2332"/>
            </a:solid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spcBef>
                <a:spcPts val="0"/>
              </a:spcBef>
              <a:spcAft>
                <a:spcPts val="0"/>
              </a:spcAft>
            </a:pPr>
            <a:r>
              <a:rPr sz="1700" b="1" i="0">
                <a:solidFill>
                  <a:srgbClr val="1A2332"/>
                </a:solidFill>
                <a:latin typeface="Arial"/>
              </a:rPr>
              <a:t>Flat-Top
HF ≈ 8 ms²
LF/HF = 5,5</a:t>
            </a:r>
          </a:p>
        </p:txBody>
      </p:sp>
      <p:sp>
        <p:nvSpPr>
          <p:cNvPr id="8" name="TextBox 7">
            <a:extLst>
              <a:ext uri="{FF2B5EF4-FFF2-40B4-BE49-F238E27FC236}">
                <a16:creationId xmlns:a16="http://schemas.microsoft.com/office/drawing/2014/main" id="{2081E758-18C8-2AB2-23FC-29E21BD650FA}"/>
              </a:ext>
            </a:extLst>
          </p:cNvPr>
          <p:cNvSpPr txBox="1"/>
          <p:nvPr/>
        </p:nvSpPr>
        <p:spPr>
          <a:xfrm>
            <a:off x="8686800" y="2971800"/>
            <a:ext cx="2743200" cy="1371600"/>
          </a:xfrm>
          <a:prstGeom prst="rect">
            <a:avLst/>
          </a:prstGeom>
          <a:noFill/>
        </p:spPr>
        <p:txBody>
          <a:bodyPr wrap="square" lIns="0" tIns="0" rIns="0" bIns="0" anchor="ctr">
            <a:spAutoFit/>
          </a:bodyPr>
          <a:lstStyle/>
          <a:p>
            <a:pPr algn="ctr">
              <a:spcBef>
                <a:spcPts val="0"/>
              </a:spcBef>
              <a:spcAft>
                <a:spcPts val="600"/>
              </a:spcAft>
            </a:pPr>
            <a:r>
              <a:rPr sz="2000" b="1" i="0">
                <a:solidFill>
                  <a:srgbClr val="D62828"/>
                </a:solidFill>
                <a:latin typeface="Arial"/>
              </a:rPr>
              <a:t>≈ 4×
Unterschied!</a:t>
            </a:r>
          </a:p>
        </p:txBody>
      </p:sp>
      <p:sp>
        <p:nvSpPr>
          <p:cNvPr id="9" name="TextBox 8">
            <a:extLst>
              <a:ext uri="{FF2B5EF4-FFF2-40B4-BE49-F238E27FC236}">
                <a16:creationId xmlns:a16="http://schemas.microsoft.com/office/drawing/2014/main" id="{80375380-78D7-C9E5-E9DC-A269253F8E68}"/>
              </a:ext>
            </a:extLst>
          </p:cNvPr>
          <p:cNvSpPr txBox="1"/>
          <p:nvPr/>
        </p:nvSpPr>
        <p:spPr>
          <a:xfrm>
            <a:off x="822960" y="4892040"/>
            <a:ext cx="10607040" cy="822960"/>
          </a:xfrm>
          <a:prstGeom prst="rect">
            <a:avLst/>
          </a:prstGeom>
          <a:noFill/>
        </p:spPr>
        <p:txBody>
          <a:bodyPr wrap="square" lIns="0" tIns="0" rIns="0" bIns="0" anchor="t">
            <a:spAutoFit/>
          </a:bodyPr>
          <a:lstStyle/>
          <a:p>
            <a:pPr algn="l">
              <a:spcBef>
                <a:spcPts val="0"/>
              </a:spcBef>
              <a:spcAft>
                <a:spcPts val="600"/>
              </a:spcAft>
            </a:pPr>
            <a:r>
              <a:rPr sz="1900" b="1" i="0">
                <a:solidFill>
                  <a:srgbClr val="D62828"/>
                </a:solidFill>
                <a:latin typeface="Arial"/>
              </a:rPr>
              <a:t>Falsches Fenster = falscher Kennwert. Ein leaky Fenster kann sogar das klinisch genutzte LF/HF-Verhältnis verzerren.</a:t>
            </a:r>
          </a:p>
        </p:txBody>
      </p:sp>
    </p:spTree>
    <p:extLst>
      <p:ext uri="{BB962C8B-B14F-4D97-AF65-F5344CB8AC3E}">
        <p14:creationId xmlns:p14="http://schemas.microsoft.com/office/powerpoint/2010/main" val="347710226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502920"/>
            <a:ext cx="10972800" cy="1005840"/>
          </a:xfrm>
          <a:prstGeom prst="rect">
            <a:avLst/>
          </a:prstGeom>
          <a:noFill/>
        </p:spPr>
        <p:txBody>
          <a:bodyPr wrap="square" lIns="0" tIns="0" rIns="0" bIns="0" anchor="t">
            <a:spAutoFit/>
          </a:bodyPr>
          <a:lstStyle/>
          <a:p>
            <a:pPr algn="l">
              <a:spcBef>
                <a:spcPts val="0"/>
              </a:spcBef>
              <a:spcAft>
                <a:spcPts val="0"/>
              </a:spcAft>
            </a:pPr>
            <a:r>
              <a:rPr sz="3000" b="1" i="0">
                <a:solidFill>
                  <a:srgbClr val="1A2332"/>
                </a:solidFill>
                <a:latin typeface="Arial"/>
              </a:rPr>
              <a:t>Fazit – welches Fenster?</a:t>
            </a:r>
          </a:p>
        </p:txBody>
      </p:sp>
      <p:sp>
        <p:nvSpPr>
          <p:cNvPr id="3" name="Rectangle 2"/>
          <p:cNvSpPr/>
          <p:nvPr/>
        </p:nvSpPr>
        <p:spPr>
          <a:xfrm>
            <a:off x="658368" y="1170432"/>
            <a:ext cx="1005840" cy="82296"/>
          </a:xfrm>
          <a:prstGeom prst="rect">
            <a:avLst/>
          </a:prstGeom>
          <a:solidFill>
            <a:srgbClr val="D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965960"/>
            <a:ext cx="10607040" cy="3840480"/>
          </a:xfrm>
          <a:prstGeom prst="rect">
            <a:avLst/>
          </a:prstGeom>
          <a:noFill/>
        </p:spPr>
        <p:txBody>
          <a:bodyPr wrap="square" lIns="0" tIns="0" rIns="0" bIns="0" anchor="t">
            <a:spAutoFit/>
          </a:bodyPr>
          <a:lstStyle/>
          <a:p>
            <a:pPr algn="l">
              <a:spcBef>
                <a:spcPts val="0"/>
              </a:spcBef>
              <a:spcAft>
                <a:spcPts val="0"/>
              </a:spcAft>
            </a:pPr>
            <a:r>
              <a:rPr sz="2400" b="1" i="0" dirty="0">
                <a:solidFill>
                  <a:srgbClr val="D62828"/>
                </a:solidFill>
                <a:latin typeface="Arial"/>
              </a:rPr>
              <a:t>Hann</a:t>
            </a:r>
          </a:p>
          <a:p>
            <a:pPr algn="l">
              <a:spcBef>
                <a:spcPts val="0"/>
              </a:spcBef>
              <a:spcAft>
                <a:spcPts val="1400"/>
              </a:spcAft>
            </a:pPr>
            <a:r>
              <a:rPr sz="1800" b="0" i="0" dirty="0">
                <a:solidFill>
                  <a:srgbClr val="1A2332"/>
                </a:solidFill>
                <a:latin typeface="Arial"/>
              </a:rPr>
              <a:t>bester </a:t>
            </a:r>
            <a:r>
              <a:rPr sz="1800" b="0" i="0" dirty="0" err="1">
                <a:solidFill>
                  <a:srgbClr val="1A2332"/>
                </a:solidFill>
                <a:latin typeface="Arial"/>
              </a:rPr>
              <a:t>Allround-Kompromiss</a:t>
            </a:r>
            <a:r>
              <a:rPr sz="1800" b="0" i="0" dirty="0">
                <a:solidFill>
                  <a:srgbClr val="1A2332"/>
                </a:solidFill>
                <a:latin typeface="Arial"/>
              </a:rPr>
              <a:t> für die HRV: </a:t>
            </a:r>
            <a:r>
              <a:rPr sz="1800" b="0" i="0" dirty="0" err="1">
                <a:solidFill>
                  <a:srgbClr val="1A2332"/>
                </a:solidFill>
                <a:latin typeface="Arial"/>
              </a:rPr>
              <a:t>ordentliche</a:t>
            </a:r>
            <a:r>
              <a:rPr sz="1800" b="0" i="0" dirty="0">
                <a:solidFill>
                  <a:srgbClr val="1A2332"/>
                </a:solidFill>
                <a:latin typeface="Arial"/>
              </a:rPr>
              <a:t> </a:t>
            </a:r>
            <a:r>
              <a:rPr sz="1800" b="0" i="0" dirty="0" err="1">
                <a:solidFill>
                  <a:srgbClr val="1A2332"/>
                </a:solidFill>
                <a:latin typeface="Arial"/>
              </a:rPr>
              <a:t>Auflösung</a:t>
            </a:r>
            <a:r>
              <a:rPr sz="1800" b="0" i="0" dirty="0">
                <a:solidFill>
                  <a:srgbClr val="1A2332"/>
                </a:solidFill>
                <a:latin typeface="Arial"/>
              </a:rPr>
              <a:t>, </a:t>
            </a:r>
            <a:r>
              <a:rPr sz="1800" b="0" i="0" dirty="0" err="1">
                <a:solidFill>
                  <a:srgbClr val="1A2332"/>
                </a:solidFill>
                <a:latin typeface="Arial"/>
              </a:rPr>
              <a:t>wenig</a:t>
            </a:r>
            <a:r>
              <a:rPr sz="1800" b="0" i="0" dirty="0">
                <a:solidFill>
                  <a:srgbClr val="1A2332"/>
                </a:solidFill>
                <a:latin typeface="Arial"/>
              </a:rPr>
              <a:t> Leakage, stabile </a:t>
            </a:r>
            <a:r>
              <a:rPr sz="1800" b="0" i="0" dirty="0" err="1">
                <a:solidFill>
                  <a:srgbClr val="1A2332"/>
                </a:solidFill>
                <a:latin typeface="Arial"/>
              </a:rPr>
              <a:t>Bandwerte</a:t>
            </a:r>
            <a:r>
              <a:rPr sz="1800" b="0" i="0" dirty="0">
                <a:solidFill>
                  <a:srgbClr val="1A2332"/>
                </a:solidFill>
                <a:latin typeface="Arial"/>
              </a:rPr>
              <a:t>.</a:t>
            </a:r>
          </a:p>
          <a:p>
            <a:pPr algn="l">
              <a:spcBef>
                <a:spcPts val="0"/>
              </a:spcBef>
              <a:spcAft>
                <a:spcPts val="0"/>
              </a:spcAft>
            </a:pPr>
            <a:r>
              <a:rPr sz="2400" b="1" i="0" dirty="0">
                <a:solidFill>
                  <a:srgbClr val="1A2332"/>
                </a:solidFill>
                <a:latin typeface="Arial"/>
              </a:rPr>
              <a:t>Kaiser (β≈8)</a:t>
            </a:r>
          </a:p>
          <a:p>
            <a:pPr algn="l">
              <a:spcBef>
                <a:spcPts val="0"/>
              </a:spcBef>
              <a:spcAft>
                <a:spcPts val="1400"/>
              </a:spcAft>
            </a:pPr>
            <a:r>
              <a:rPr sz="1800" b="0" i="0" dirty="0" err="1">
                <a:solidFill>
                  <a:srgbClr val="1A2332"/>
                </a:solidFill>
                <a:latin typeface="Arial"/>
              </a:rPr>
              <a:t>wenn</a:t>
            </a:r>
            <a:r>
              <a:rPr sz="1800" b="0" i="0" dirty="0">
                <a:solidFill>
                  <a:srgbClr val="1A2332"/>
                </a:solidFill>
                <a:latin typeface="Arial"/>
              </a:rPr>
              <a:t> man den </a:t>
            </a:r>
            <a:r>
              <a:rPr sz="1800" b="0" i="0" dirty="0" err="1">
                <a:solidFill>
                  <a:srgbClr val="1A2332"/>
                </a:solidFill>
                <a:latin typeface="Arial"/>
              </a:rPr>
              <a:t>Kompromiss</a:t>
            </a:r>
            <a:r>
              <a:rPr sz="1800" b="0" i="0" dirty="0">
                <a:solidFill>
                  <a:srgbClr val="1A2332"/>
                </a:solidFill>
                <a:latin typeface="Arial"/>
              </a:rPr>
              <a:t> </a:t>
            </a:r>
            <a:r>
              <a:rPr sz="1800" b="0" i="0" dirty="0" err="1">
                <a:solidFill>
                  <a:srgbClr val="1A2332"/>
                </a:solidFill>
                <a:latin typeface="Arial"/>
              </a:rPr>
              <a:t>selbst</a:t>
            </a:r>
            <a:r>
              <a:rPr sz="1800" b="0" i="0" dirty="0">
                <a:solidFill>
                  <a:srgbClr val="1A2332"/>
                </a:solidFill>
                <a:latin typeface="Arial"/>
              </a:rPr>
              <a:t> </a:t>
            </a:r>
            <a:r>
              <a:rPr sz="1800" b="0" i="0" dirty="0" err="1">
                <a:solidFill>
                  <a:srgbClr val="1A2332"/>
                </a:solidFill>
                <a:latin typeface="Arial"/>
              </a:rPr>
              <a:t>feinjustieren</a:t>
            </a:r>
            <a:r>
              <a:rPr sz="1800" b="0" i="0" dirty="0">
                <a:solidFill>
                  <a:srgbClr val="1A2332"/>
                </a:solidFill>
                <a:latin typeface="Arial"/>
              </a:rPr>
              <a:t> </a:t>
            </a:r>
            <a:r>
              <a:rPr sz="1800" b="0" i="0" dirty="0" err="1">
                <a:solidFill>
                  <a:srgbClr val="1A2332"/>
                </a:solidFill>
                <a:latin typeface="Arial"/>
              </a:rPr>
              <a:t>möchte</a:t>
            </a:r>
            <a:r>
              <a:rPr sz="1800" b="0" i="0" dirty="0">
                <a:solidFill>
                  <a:srgbClr val="1A2332"/>
                </a:solidFill>
                <a:latin typeface="Arial"/>
              </a:rPr>
              <a:t>.</a:t>
            </a:r>
          </a:p>
          <a:p>
            <a:pPr algn="l">
              <a:spcBef>
                <a:spcPts val="0"/>
              </a:spcBef>
              <a:spcAft>
                <a:spcPts val="0"/>
              </a:spcAft>
            </a:pPr>
            <a:r>
              <a:rPr sz="2400" b="1" i="0" dirty="0" err="1">
                <a:solidFill>
                  <a:srgbClr val="1A2332"/>
                </a:solidFill>
                <a:latin typeface="Arial"/>
              </a:rPr>
              <a:t>Rechteck</a:t>
            </a:r>
            <a:endParaRPr sz="2400" b="1" i="0" dirty="0">
              <a:solidFill>
                <a:srgbClr val="1A2332"/>
              </a:solidFill>
              <a:latin typeface="Arial"/>
            </a:endParaRPr>
          </a:p>
          <a:p>
            <a:pPr algn="l">
              <a:spcBef>
                <a:spcPts val="0"/>
              </a:spcBef>
              <a:spcAft>
                <a:spcPts val="1400"/>
              </a:spcAft>
            </a:pPr>
            <a:r>
              <a:rPr sz="1800" b="0" i="0" dirty="0" err="1">
                <a:solidFill>
                  <a:srgbClr val="1A2332"/>
                </a:solidFill>
                <a:latin typeface="Arial"/>
              </a:rPr>
              <a:t>nur</a:t>
            </a:r>
            <a:r>
              <a:rPr sz="1800" b="0" i="0" dirty="0">
                <a:solidFill>
                  <a:srgbClr val="1A2332"/>
                </a:solidFill>
                <a:latin typeface="Arial"/>
              </a:rPr>
              <a:t> </a:t>
            </a:r>
            <a:r>
              <a:rPr sz="1800" b="0" i="0" dirty="0" err="1">
                <a:solidFill>
                  <a:srgbClr val="1A2332"/>
                </a:solidFill>
                <a:latin typeface="Arial"/>
              </a:rPr>
              <a:t>als</a:t>
            </a:r>
            <a:r>
              <a:rPr sz="1800" b="0" i="0" dirty="0">
                <a:solidFill>
                  <a:srgbClr val="1A2332"/>
                </a:solidFill>
                <a:latin typeface="Arial"/>
              </a:rPr>
              <a:t> </a:t>
            </a:r>
            <a:r>
              <a:rPr sz="1800" b="0" i="0" dirty="0" err="1">
                <a:solidFill>
                  <a:srgbClr val="1A2332"/>
                </a:solidFill>
                <a:latin typeface="Arial"/>
              </a:rPr>
              <a:t>Negativbeispiel</a:t>
            </a:r>
            <a:r>
              <a:rPr sz="1800" b="0" i="0" dirty="0">
                <a:solidFill>
                  <a:srgbClr val="1A2332"/>
                </a:solidFill>
                <a:latin typeface="Arial"/>
              </a:rPr>
              <a:t> – </a:t>
            </a:r>
            <a:r>
              <a:rPr sz="1800" b="0" i="0" dirty="0" err="1">
                <a:solidFill>
                  <a:srgbClr val="1A2332"/>
                </a:solidFill>
                <a:latin typeface="Arial"/>
              </a:rPr>
              <a:t>zeigt</a:t>
            </a:r>
            <a:r>
              <a:rPr sz="1800" b="0" i="0" dirty="0">
                <a:solidFill>
                  <a:srgbClr val="1A2332"/>
                </a:solidFill>
                <a:latin typeface="Arial"/>
              </a:rPr>
              <a:t>, </a:t>
            </a:r>
            <a:r>
              <a:rPr sz="1800" b="0" i="0" dirty="0" err="1">
                <a:solidFill>
                  <a:srgbClr val="1A2332"/>
                </a:solidFill>
                <a:latin typeface="Arial"/>
              </a:rPr>
              <a:t>wie</a:t>
            </a:r>
            <a:r>
              <a:rPr sz="1800" b="0" i="0" dirty="0">
                <a:solidFill>
                  <a:srgbClr val="1A2332"/>
                </a:solidFill>
                <a:latin typeface="Arial"/>
              </a:rPr>
              <a:t> </a:t>
            </a:r>
            <a:r>
              <a:rPr sz="1800" b="0" i="0" dirty="0" err="1">
                <a:solidFill>
                  <a:srgbClr val="1A2332"/>
                </a:solidFill>
                <a:latin typeface="Arial"/>
              </a:rPr>
              <a:t>schlimm</a:t>
            </a:r>
            <a:r>
              <a:rPr sz="1800" b="0" i="0" dirty="0">
                <a:solidFill>
                  <a:srgbClr val="1A2332"/>
                </a:solidFill>
                <a:latin typeface="Arial"/>
              </a:rPr>
              <a:t> Leakage </a:t>
            </a:r>
            <a:r>
              <a:rPr sz="1800" b="0" i="0" dirty="0" err="1">
                <a:solidFill>
                  <a:srgbClr val="1A2332"/>
                </a:solidFill>
                <a:latin typeface="Arial"/>
              </a:rPr>
              <a:t>ohne</a:t>
            </a:r>
            <a:r>
              <a:rPr sz="1800" b="0" i="0" dirty="0">
                <a:solidFill>
                  <a:srgbClr val="1A2332"/>
                </a:solidFill>
                <a:latin typeface="Arial"/>
              </a:rPr>
              <a:t> Fenster </a:t>
            </a:r>
            <a:r>
              <a:rPr sz="1800" b="0" i="0" dirty="0" err="1">
                <a:solidFill>
                  <a:srgbClr val="1A2332"/>
                </a:solidFill>
                <a:latin typeface="Arial"/>
              </a:rPr>
              <a:t>ist</a:t>
            </a:r>
            <a:r>
              <a:rPr sz="1800" b="0" i="0" dirty="0">
                <a:solidFill>
                  <a:srgbClr val="1A2332"/>
                </a:solidFill>
                <a:latin typeface="Arial"/>
              </a:rPr>
              <a:t>.</a:t>
            </a:r>
          </a:p>
          <a:p>
            <a:pPr algn="l">
              <a:spcBef>
                <a:spcPts val="0"/>
              </a:spcBef>
              <a:spcAft>
                <a:spcPts val="0"/>
              </a:spcAft>
            </a:pPr>
            <a:r>
              <a:rPr sz="2400" b="1" i="0" dirty="0">
                <a:solidFill>
                  <a:srgbClr val="1A2332"/>
                </a:solidFill>
                <a:latin typeface="Arial"/>
              </a:rPr>
              <a:t>Flat-Top</a:t>
            </a:r>
          </a:p>
          <a:p>
            <a:pPr algn="l">
              <a:spcBef>
                <a:spcPts val="0"/>
              </a:spcBef>
              <a:spcAft>
                <a:spcPts val="0"/>
              </a:spcAft>
            </a:pPr>
            <a:r>
              <a:rPr sz="1800" b="0" i="0" dirty="0" err="1">
                <a:solidFill>
                  <a:srgbClr val="1A2332"/>
                </a:solidFill>
                <a:latin typeface="Arial"/>
              </a:rPr>
              <a:t>nur</a:t>
            </a:r>
            <a:r>
              <a:rPr sz="1800" b="0" i="0" dirty="0">
                <a:solidFill>
                  <a:srgbClr val="1A2332"/>
                </a:solidFill>
                <a:latin typeface="Arial"/>
              </a:rPr>
              <a:t>, </a:t>
            </a:r>
            <a:r>
              <a:rPr sz="1800" b="0" i="0" dirty="0" err="1">
                <a:solidFill>
                  <a:srgbClr val="1A2332"/>
                </a:solidFill>
                <a:latin typeface="Arial"/>
              </a:rPr>
              <a:t>wenn</a:t>
            </a:r>
            <a:r>
              <a:rPr sz="1800" b="0" i="0" dirty="0">
                <a:solidFill>
                  <a:srgbClr val="1A2332"/>
                </a:solidFill>
                <a:latin typeface="Arial"/>
              </a:rPr>
              <a:t> es rein auf die </a:t>
            </a:r>
            <a:r>
              <a:rPr sz="1800" b="0" i="0" dirty="0" err="1">
                <a:solidFill>
                  <a:srgbClr val="1A2332"/>
                </a:solidFill>
                <a:latin typeface="Arial"/>
              </a:rPr>
              <a:t>exakte</a:t>
            </a:r>
            <a:r>
              <a:rPr sz="1800" b="0" i="0" dirty="0">
                <a:solidFill>
                  <a:srgbClr val="1A2332"/>
                </a:solidFill>
                <a:latin typeface="Arial"/>
              </a:rPr>
              <a:t> Amplitude </a:t>
            </a:r>
            <a:r>
              <a:rPr sz="1800" b="0" i="0" dirty="0" err="1">
                <a:solidFill>
                  <a:srgbClr val="1A2332"/>
                </a:solidFill>
                <a:latin typeface="Arial"/>
              </a:rPr>
              <a:t>eines</a:t>
            </a:r>
            <a:r>
              <a:rPr sz="1800" b="0" i="0" dirty="0">
                <a:solidFill>
                  <a:srgbClr val="1A2332"/>
                </a:solidFill>
                <a:latin typeface="Arial"/>
              </a:rPr>
              <a:t> Peaks </a:t>
            </a:r>
            <a:r>
              <a:rPr sz="1800" b="0" i="0" dirty="0" err="1">
                <a:solidFill>
                  <a:srgbClr val="1A2332"/>
                </a:solidFill>
                <a:latin typeface="Arial"/>
              </a:rPr>
              <a:t>ankommt</a:t>
            </a:r>
            <a:r>
              <a:rPr sz="1800" b="0" i="0" dirty="0">
                <a:solidFill>
                  <a:srgbClr val="1A2332"/>
                </a:solidFill>
                <a:latin typeface="Arial"/>
              </a:rPr>
              <a:t> (</a:t>
            </a:r>
            <a:r>
              <a:rPr sz="1800" b="0" i="0" dirty="0" err="1">
                <a:solidFill>
                  <a:srgbClr val="1A2332"/>
                </a:solidFill>
                <a:latin typeface="Arial"/>
              </a:rPr>
              <a:t>bei</a:t>
            </a:r>
            <a:r>
              <a:rPr sz="1800" b="0" i="0" dirty="0">
                <a:solidFill>
                  <a:srgbClr val="1A2332"/>
                </a:solidFill>
                <a:latin typeface="Arial"/>
              </a:rPr>
              <a:t> HRV </a:t>
            </a:r>
            <a:r>
              <a:rPr sz="1800" b="0" i="0" dirty="0" err="1">
                <a:solidFill>
                  <a:srgbClr val="1A2332"/>
                </a:solidFill>
                <a:latin typeface="Arial"/>
              </a:rPr>
              <a:t>selten</a:t>
            </a:r>
            <a:r>
              <a:rPr sz="1800" b="0" i="0" dirty="0">
                <a:solidFill>
                  <a:srgbClr val="1A2332"/>
                </a:solidFill>
                <a:latin typeface="Arial"/>
              </a:rPr>
              <a: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1A2332"/>
        </a:solidFill>
        <a:effectLst/>
      </p:bgPr>
    </p:bg>
    <p:spTree>
      <p:nvGrpSpPr>
        <p:cNvPr id="1" name=""/>
        <p:cNvGrpSpPr/>
        <p:nvPr/>
      </p:nvGrpSpPr>
      <p:grpSpPr>
        <a:xfrm>
          <a:off x="0" y="0"/>
          <a:ext cx="0" cy="0"/>
          <a:chOff x="0" y="0"/>
          <a:chExt cx="0" cy="0"/>
        </a:xfrm>
      </p:grpSpPr>
      <p:sp>
        <p:nvSpPr>
          <p:cNvPr id="2" name="TextBox 1"/>
          <p:cNvSpPr txBox="1"/>
          <p:nvPr/>
        </p:nvSpPr>
        <p:spPr>
          <a:xfrm>
            <a:off x="822960" y="3029337"/>
            <a:ext cx="10515600" cy="707886"/>
          </a:xfrm>
          <a:prstGeom prst="rect">
            <a:avLst/>
          </a:prstGeom>
          <a:noFill/>
        </p:spPr>
        <p:txBody>
          <a:bodyPr wrap="square" lIns="0" tIns="0" rIns="0" bIns="0" anchor="ctr">
            <a:spAutoFit/>
          </a:bodyPr>
          <a:lstStyle/>
          <a:p>
            <a:pPr algn="l">
              <a:spcBef>
                <a:spcPts val="0"/>
              </a:spcBef>
              <a:spcAft>
                <a:spcPts val="600"/>
              </a:spcAft>
            </a:pPr>
            <a:r>
              <a:rPr sz="4600" b="1" i="0" dirty="0" err="1">
                <a:solidFill>
                  <a:srgbClr val="FFFFFF"/>
                </a:solidFill>
                <a:latin typeface="Arial"/>
              </a:rPr>
              <a:t>Vielen</a:t>
            </a:r>
            <a:r>
              <a:rPr sz="4600" b="1" i="0" dirty="0">
                <a:solidFill>
                  <a:srgbClr val="FFFFFF"/>
                </a:solidFill>
                <a:latin typeface="Arial"/>
              </a:rPr>
              <a:t> Dank!</a:t>
            </a:r>
          </a:p>
        </p:txBody>
      </p:sp>
      <p:cxnSp>
        <p:nvCxnSpPr>
          <p:cNvPr id="3" name="Connector 2"/>
          <p:cNvCxnSpPr/>
          <p:nvPr/>
        </p:nvCxnSpPr>
        <p:spPr>
          <a:xfrm>
            <a:off x="0" y="6035040"/>
            <a:ext cx="32004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320040" y="6003950"/>
            <a:ext cx="91440" cy="3109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11480" y="6003950"/>
            <a:ext cx="91440" cy="3109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02920" y="6035040"/>
            <a:ext cx="13716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035040"/>
            <a:ext cx="73152" cy="43525"/>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713232" y="5724144"/>
            <a:ext cx="91440" cy="354421"/>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804672" y="5724144"/>
            <a:ext cx="82296" cy="379293"/>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886968" y="6035040"/>
            <a:ext cx="73152" cy="68397"/>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960120" y="6035040"/>
            <a:ext cx="18288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43000" y="5985296"/>
            <a:ext cx="100584" cy="49744"/>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243584" y="5985296"/>
            <a:ext cx="100584" cy="49744"/>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344168" y="6035040"/>
            <a:ext cx="73152"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417320" y="6035040"/>
            <a:ext cx="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417320" y="6035040"/>
            <a:ext cx="32004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1737360" y="6003950"/>
            <a:ext cx="91440" cy="3109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828800" y="6003950"/>
            <a:ext cx="91440" cy="3109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920240" y="6035040"/>
            <a:ext cx="13716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2057400" y="6035040"/>
            <a:ext cx="73152" cy="43525"/>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2130552" y="5724144"/>
            <a:ext cx="91440" cy="354421"/>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221992" y="5724144"/>
            <a:ext cx="82296" cy="379293"/>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2304288" y="6035040"/>
            <a:ext cx="73152" cy="68397"/>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2377440" y="6035040"/>
            <a:ext cx="18288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2560320" y="5985296"/>
            <a:ext cx="100584" cy="49744"/>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2660904" y="5985296"/>
            <a:ext cx="100584" cy="49744"/>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2761488" y="6035040"/>
            <a:ext cx="73152"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2834640" y="6035040"/>
            <a:ext cx="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2834640" y="6035040"/>
            <a:ext cx="32004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3154680" y="6003950"/>
            <a:ext cx="91440" cy="3109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246120" y="6003950"/>
            <a:ext cx="91440" cy="3109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3337560" y="6035040"/>
            <a:ext cx="13716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3474720" y="6035040"/>
            <a:ext cx="73152" cy="43525"/>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3547872" y="5724144"/>
            <a:ext cx="91440" cy="354421"/>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3639312" y="5724144"/>
            <a:ext cx="82296" cy="379293"/>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3721608" y="6035040"/>
            <a:ext cx="73152" cy="68397"/>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3794760" y="6035040"/>
            <a:ext cx="182879"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3977639" y="5985296"/>
            <a:ext cx="100585" cy="49744"/>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4078224" y="5985296"/>
            <a:ext cx="100584" cy="49744"/>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4178808" y="6035040"/>
            <a:ext cx="73152"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4251960" y="6035040"/>
            <a:ext cx="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4251960" y="6035040"/>
            <a:ext cx="32004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4572000" y="6003950"/>
            <a:ext cx="91440" cy="3109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4663440" y="6003950"/>
            <a:ext cx="91440" cy="3109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4754880" y="6035040"/>
            <a:ext cx="13716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4892040" y="6035040"/>
            <a:ext cx="73152" cy="43525"/>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4965192" y="5724144"/>
            <a:ext cx="91440" cy="354421"/>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5056632" y="5724144"/>
            <a:ext cx="82296" cy="379293"/>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5138928" y="6035040"/>
            <a:ext cx="73152" cy="68397"/>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5212080" y="6035040"/>
            <a:ext cx="18288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5394960" y="5985296"/>
            <a:ext cx="100584" cy="49744"/>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5495544" y="5985296"/>
            <a:ext cx="100584" cy="49744"/>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5596128" y="6035040"/>
            <a:ext cx="73152"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5669280" y="6035040"/>
            <a:ext cx="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5669280" y="6035040"/>
            <a:ext cx="32004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V="1">
            <a:off x="5989320" y="6003950"/>
            <a:ext cx="91440" cy="3109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6080760" y="6003950"/>
            <a:ext cx="91440" cy="3109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6172200" y="6035040"/>
            <a:ext cx="13716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6309360" y="6035040"/>
            <a:ext cx="73152" cy="43525"/>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6382512" y="5724144"/>
            <a:ext cx="91440" cy="354421"/>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6473952" y="5724144"/>
            <a:ext cx="82296" cy="379293"/>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V="1">
            <a:off x="6556248" y="6035040"/>
            <a:ext cx="73152" cy="68397"/>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6629400" y="6035040"/>
            <a:ext cx="18288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V="1">
            <a:off x="6812280" y="5985296"/>
            <a:ext cx="100584" cy="49744"/>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6912864" y="5985296"/>
            <a:ext cx="100584" cy="49744"/>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7013448" y="6035040"/>
            <a:ext cx="73152"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7086600" y="6035040"/>
            <a:ext cx="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a:off x="7086600" y="6035040"/>
            <a:ext cx="32004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V="1">
            <a:off x="7406640" y="6003950"/>
            <a:ext cx="91439" cy="3109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7498079" y="6003950"/>
            <a:ext cx="91441" cy="3109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7589520" y="6035040"/>
            <a:ext cx="137159"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7726679" y="6035040"/>
            <a:ext cx="73152" cy="43525"/>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V="1">
            <a:off x="7799831" y="5724144"/>
            <a:ext cx="91441" cy="354421"/>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a:off x="7891272" y="5724144"/>
            <a:ext cx="82296" cy="379293"/>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V="1">
            <a:off x="7973568" y="6035040"/>
            <a:ext cx="73152" cy="68397"/>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a:off x="8046720" y="6035040"/>
            <a:ext cx="18288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flipV="1">
            <a:off x="8229600" y="5985296"/>
            <a:ext cx="100583" cy="49744"/>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8330183" y="5985296"/>
            <a:ext cx="100585" cy="49744"/>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8430768" y="6035040"/>
            <a:ext cx="73152"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8503920" y="6035040"/>
            <a:ext cx="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a:off x="8503920" y="6035040"/>
            <a:ext cx="32004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8823960" y="6003950"/>
            <a:ext cx="91440" cy="3109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8915400" y="6003950"/>
            <a:ext cx="91440" cy="3109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9006840" y="6035040"/>
            <a:ext cx="13716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a:off x="9144000" y="6035040"/>
            <a:ext cx="73152" cy="43525"/>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V="1">
            <a:off x="9217152" y="5724144"/>
            <a:ext cx="91440" cy="354421"/>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a:off x="9308592" y="5724144"/>
            <a:ext cx="82296" cy="379293"/>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9390888" y="6035040"/>
            <a:ext cx="73152" cy="68397"/>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a:off x="9464040" y="6035040"/>
            <a:ext cx="18288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flipV="1">
            <a:off x="9646920" y="5985296"/>
            <a:ext cx="100584" cy="49744"/>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a:off x="9747504" y="5985296"/>
            <a:ext cx="100584" cy="49744"/>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a:off x="9848088" y="6035040"/>
            <a:ext cx="73152"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9921240" y="6035040"/>
            <a:ext cx="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a:off x="9921240" y="6035040"/>
            <a:ext cx="32004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V="1">
            <a:off x="10241280" y="6003950"/>
            <a:ext cx="91440" cy="3109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a:off x="10332720" y="6003950"/>
            <a:ext cx="91440" cy="3109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a:off x="10424160" y="6035040"/>
            <a:ext cx="13716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a:off x="10561320" y="6035040"/>
            <a:ext cx="73152" cy="43525"/>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flipV="1">
            <a:off x="10634472" y="5724144"/>
            <a:ext cx="91440" cy="354421"/>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a:off x="10725912" y="5724144"/>
            <a:ext cx="82296" cy="379293"/>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flipV="1">
            <a:off x="10808208" y="6035040"/>
            <a:ext cx="73152" cy="68397"/>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a:off x="10881360" y="6035040"/>
            <a:ext cx="18288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flipV="1">
            <a:off x="11064240" y="5985296"/>
            <a:ext cx="100584" cy="49744"/>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a:off x="11164824" y="5985296"/>
            <a:ext cx="100584" cy="49744"/>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a:off x="11265408" y="6035040"/>
            <a:ext cx="73152"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a:off x="11338560" y="6035040"/>
            <a:ext cx="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a:off x="11338560" y="6035040"/>
            <a:ext cx="32004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flipV="1">
            <a:off x="11658600" y="6003950"/>
            <a:ext cx="91440" cy="3109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a:off x="11750040" y="6003950"/>
            <a:ext cx="91440" cy="3109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a:off x="11841480" y="6035040"/>
            <a:ext cx="137160" cy="0"/>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a:off x="11978640" y="6035040"/>
            <a:ext cx="73152" cy="43525"/>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flipV="1">
            <a:off x="12051792" y="5724144"/>
            <a:ext cx="91440" cy="354421"/>
          </a:xfrm>
          <a:prstGeom prst="line">
            <a:avLst/>
          </a:prstGeom>
          <a:ln w="16510">
            <a:solidFill>
              <a:srgbClr val="D62828"/>
            </a:solidFill>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631</Words>
  <Application>Microsoft Macintosh PowerPoint</Application>
  <PresentationFormat>Breitbild</PresentationFormat>
  <Paragraphs>51</Paragraphs>
  <Slides>7</Slides>
  <Notes>7</Notes>
  <HiddenSlides>0</HiddenSlides>
  <MMClips>0</MMClips>
  <ScaleCrop>false</ScaleCrop>
  <HeadingPairs>
    <vt:vector size="6" baseType="variant">
      <vt:variant>
        <vt:lpstr>Verwendete Schriftarten</vt:lpstr>
      </vt:variant>
      <vt:variant>
        <vt:i4>2</vt:i4>
      </vt:variant>
      <vt:variant>
        <vt:lpstr>Design</vt:lpstr>
      </vt:variant>
      <vt:variant>
        <vt:i4>1</vt:i4>
      </vt:variant>
      <vt:variant>
        <vt:lpstr>Folientitel</vt:lpstr>
      </vt:variant>
      <vt:variant>
        <vt:i4>7</vt:i4>
      </vt:variant>
    </vt:vector>
  </HeadingPairs>
  <TitlesOfParts>
    <vt:vector size="10" baseType="lpstr">
      <vt:lpstr>Arial</vt:lpstr>
      <vt:lpstr>Calibri</vt:lpstr>
      <vt:lpstr>Office Theme</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Jannik Oeschger</cp:lastModifiedBy>
  <cp:revision>11</cp:revision>
  <dcterms:created xsi:type="dcterms:W3CDTF">2013-01-27T09:14:16Z</dcterms:created>
  <dcterms:modified xsi:type="dcterms:W3CDTF">2026-07-13T15:00:11Z</dcterms:modified>
  <cp:category/>
</cp:coreProperties>
</file>